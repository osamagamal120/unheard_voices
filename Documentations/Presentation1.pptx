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sldIdLst>
    <p:sldId id="256" r:id="rId2"/>
    <p:sldId id="260" r:id="rId3"/>
    <p:sldId id="258" r:id="rId4"/>
    <p:sldId id="262" r:id="rId5"/>
    <p:sldId id="269" r:id="rId6"/>
    <p:sldId id="266"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6" d="100"/>
          <a:sy n="86" d="100"/>
        </p:scale>
        <p:origin x="53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862" b="0" i="0" u="none" strike="noStrike" kern="1200" spc="0" baseline="0">
                <a:solidFill>
                  <a:schemeClr val="tx1">
                    <a:lumMod val="65000"/>
                    <a:lumOff val="35000"/>
                  </a:schemeClr>
                </a:solidFill>
                <a:latin typeface="+mn-lt"/>
                <a:ea typeface="+mn-ea"/>
                <a:cs typeface="+mn-cs"/>
              </a:defRPr>
            </a:pPr>
            <a:r>
              <a:rPr lang="en-US" dirty="0"/>
              <a:t>Projected number of people with disabling hearing loss worldwide in 2019, 2030, 2040,</a:t>
            </a:r>
            <a:r>
              <a:rPr lang="en-US" baseline="0" dirty="0"/>
              <a:t> </a:t>
            </a:r>
            <a:r>
              <a:rPr lang="en-US" dirty="0"/>
              <a:t>and 2050 (in millions)</a:t>
            </a:r>
          </a:p>
        </c:rich>
      </c:tx>
      <c:overlay val="0"/>
      <c:spPr>
        <a:noFill/>
        <a:ln>
          <a:noFill/>
        </a:ln>
        <a:effectLst/>
      </c:spPr>
      <c:txPr>
        <a:bodyPr rot="0" spcFirstLastPara="1" vertOverflow="ellipsis" vert="horz" wrap="square" anchor="ctr" anchorCtr="1"/>
        <a:lstStyle/>
        <a:p>
          <a:pPr algn="l">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Deaf People</c:v>
                </c:pt>
              </c:strCache>
            </c:strRef>
          </c:tx>
          <c:spPr>
            <a:solidFill>
              <a:schemeClr val="accent1"/>
            </a:solidFill>
            <a:ln>
              <a:noFill/>
            </a:ln>
            <a:effectLst/>
          </c:spPr>
          <c:invertIfNegative val="0"/>
          <c:cat>
            <c:numRef>
              <c:f>Sheet1!$A$2:$A$5</c:f>
              <c:numCache>
                <c:formatCode>General</c:formatCode>
                <c:ptCount val="4"/>
                <c:pt idx="0">
                  <c:v>2019</c:v>
                </c:pt>
                <c:pt idx="1">
                  <c:v>2030</c:v>
                </c:pt>
                <c:pt idx="2">
                  <c:v>2040</c:v>
                </c:pt>
                <c:pt idx="3">
                  <c:v>2050</c:v>
                </c:pt>
              </c:numCache>
            </c:numRef>
          </c:cat>
          <c:val>
            <c:numRef>
              <c:f>Sheet1!$B$2:$B$5</c:f>
              <c:numCache>
                <c:formatCode>General</c:formatCode>
                <c:ptCount val="4"/>
                <c:pt idx="0">
                  <c:v>430</c:v>
                </c:pt>
                <c:pt idx="1">
                  <c:v>509</c:v>
                </c:pt>
                <c:pt idx="2">
                  <c:v>612</c:v>
                </c:pt>
                <c:pt idx="3">
                  <c:v>711</c:v>
                </c:pt>
              </c:numCache>
            </c:numRef>
          </c:val>
          <c:extLst>
            <c:ext xmlns:c16="http://schemas.microsoft.com/office/drawing/2014/chart" uri="{C3380CC4-5D6E-409C-BE32-E72D297353CC}">
              <c16:uniqueId val="{00000000-F269-4B4A-A854-AFD9341B33E3}"/>
            </c:ext>
          </c:extLst>
        </c:ser>
        <c:dLbls>
          <c:showLegendKey val="0"/>
          <c:showVal val="0"/>
          <c:showCatName val="0"/>
          <c:showSerName val="0"/>
          <c:showPercent val="0"/>
          <c:showBubbleSize val="0"/>
        </c:dLbls>
        <c:gapWidth val="219"/>
        <c:overlap val="-27"/>
        <c:axId val="793006576"/>
        <c:axId val="804273664"/>
      </c:barChart>
      <c:catAx>
        <c:axId val="793006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04273664"/>
        <c:crosses val="autoZero"/>
        <c:auto val="1"/>
        <c:lblAlgn val="ctr"/>
        <c:lblOffset val="100"/>
        <c:noMultiLvlLbl val="0"/>
      </c:catAx>
      <c:valAx>
        <c:axId val="804273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3006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10/14/2023</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24247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10/14/2023</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272012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10/14/2023</a:t>
            </a:fld>
            <a:endParaRPr lang="en-US" dirty="0"/>
          </a:p>
        </p:txBody>
      </p:sp>
    </p:spTree>
    <p:extLst>
      <p:ext uri="{BB962C8B-B14F-4D97-AF65-F5344CB8AC3E}">
        <p14:creationId xmlns:p14="http://schemas.microsoft.com/office/powerpoint/2010/main" val="328366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10/14/2023</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639651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10/14/2023</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07998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10/14/2023</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856374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10/14/2023</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724953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10/14/2023</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97811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10/14/2023</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973137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10/14/2023</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4083661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10/14/2023</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1983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10/14/2023</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3408868"/>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13" r:id="rId5"/>
    <p:sldLayoutId id="2147483718" r:id="rId6"/>
    <p:sldLayoutId id="2147483714" r:id="rId7"/>
    <p:sldLayoutId id="2147483715" r:id="rId8"/>
    <p:sldLayoutId id="2147483716" r:id="rId9"/>
    <p:sldLayoutId id="2147483717" r:id="rId10"/>
    <p:sldLayoutId id="2147483719"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2AFA16AE-43EF-87C3-852F-FACA4B8543B6}"/>
              </a:ext>
            </a:extLst>
          </p:cNvPr>
          <p:cNvSpPr>
            <a:spLocks noGrp="1"/>
          </p:cNvSpPr>
          <p:nvPr>
            <p:ph type="ctrTitle"/>
          </p:nvPr>
        </p:nvSpPr>
        <p:spPr>
          <a:xfrm>
            <a:off x="471341" y="573270"/>
            <a:ext cx="4524866" cy="3066706"/>
          </a:xfrm>
        </p:spPr>
        <p:txBody>
          <a:bodyPr anchor="b">
            <a:normAutofit/>
          </a:bodyPr>
          <a:lstStyle/>
          <a:p>
            <a:r>
              <a:rPr lang="en-US" dirty="0">
                <a:solidFill>
                  <a:schemeClr val="tx1">
                    <a:lumMod val="75000"/>
                    <a:lumOff val="25000"/>
                  </a:schemeClr>
                </a:solidFill>
              </a:rPr>
              <a:t>Unheard Voices App</a:t>
            </a:r>
          </a:p>
        </p:txBody>
      </p:sp>
      <p:sp>
        <p:nvSpPr>
          <p:cNvPr id="3" name="Subtitle 2">
            <a:extLst>
              <a:ext uri="{FF2B5EF4-FFF2-40B4-BE49-F238E27FC236}">
                <a16:creationId xmlns:a16="http://schemas.microsoft.com/office/drawing/2014/main" id="{B38574D8-BBAE-FE7D-6B03-50A0E3486143}"/>
              </a:ext>
            </a:extLst>
          </p:cNvPr>
          <p:cNvSpPr>
            <a:spLocks noGrp="1"/>
          </p:cNvSpPr>
          <p:nvPr>
            <p:ph type="subTitle" idx="1"/>
          </p:nvPr>
        </p:nvSpPr>
        <p:spPr>
          <a:xfrm>
            <a:off x="914401" y="3864454"/>
            <a:ext cx="5015060" cy="1576188"/>
          </a:xfrm>
        </p:spPr>
        <p:txBody>
          <a:bodyPr anchor="t">
            <a:normAutofit/>
          </a:bodyPr>
          <a:lstStyle/>
          <a:p>
            <a:r>
              <a:rPr lang="en-US" dirty="0"/>
              <a:t>Contact your world easily </a:t>
            </a:r>
          </a:p>
        </p:txBody>
      </p:sp>
      <p:sp>
        <p:nvSpPr>
          <p:cNvPr id="48" name="Freeform: Shape 47">
            <a:extLst>
              <a:ext uri="{FF2B5EF4-FFF2-40B4-BE49-F238E27FC236}">
                <a16:creationId xmlns:a16="http://schemas.microsoft.com/office/drawing/2014/main" id="{C7D887A3-61AD-4674-BC53-8DFA8CF7B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84611" y="0"/>
            <a:ext cx="5107387"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Picture 30" descr="A person giving a thumbs up sign to another person&#10;&#10;Description automatically generated">
            <a:extLst>
              <a:ext uri="{FF2B5EF4-FFF2-40B4-BE49-F238E27FC236}">
                <a16:creationId xmlns:a16="http://schemas.microsoft.com/office/drawing/2014/main" id="{A520EB31-EE2F-CFA9-6FDA-B68BB015817C}"/>
              </a:ext>
            </a:extLst>
          </p:cNvPr>
          <p:cNvPicPr>
            <a:picLocks noChangeAspect="1"/>
          </p:cNvPicPr>
          <p:nvPr/>
        </p:nvPicPr>
        <p:blipFill rotWithShape="1">
          <a:blip r:embed="rId2">
            <a:extLst>
              <a:ext uri="{28A0092B-C50C-407E-A947-70E740481C1C}">
                <a14:useLocalDpi xmlns:a14="http://schemas.microsoft.com/office/drawing/2010/main" val="0"/>
              </a:ext>
            </a:extLst>
          </a:blip>
          <a:srcRect r="21017" b="-1"/>
          <a:stretch/>
        </p:blipFill>
        <p:spPr>
          <a:xfrm>
            <a:off x="7293798" y="10"/>
            <a:ext cx="4898203" cy="3488426"/>
          </a:xfrm>
          <a:custGeom>
            <a:avLst/>
            <a:gdLst/>
            <a:ahLst/>
            <a:cxnLst/>
            <a:rect l="l" t="t" r="r" b="b"/>
            <a:pathLst>
              <a:path w="4898203" h="3470148">
                <a:moveTo>
                  <a:pt x="1619455" y="0"/>
                </a:moveTo>
                <a:lnTo>
                  <a:pt x="2712688" y="0"/>
                </a:lnTo>
                <a:lnTo>
                  <a:pt x="3492854" y="0"/>
                </a:lnTo>
                <a:lnTo>
                  <a:pt x="4540916" y="0"/>
                </a:lnTo>
                <a:lnTo>
                  <a:pt x="4707219" y="0"/>
                </a:lnTo>
                <a:lnTo>
                  <a:pt x="4898203" y="0"/>
                </a:lnTo>
                <a:lnTo>
                  <a:pt x="4898203" y="3470148"/>
                </a:lnTo>
                <a:lnTo>
                  <a:pt x="0" y="3470148"/>
                </a:lnTo>
                <a:lnTo>
                  <a:pt x="3126" y="3337395"/>
                </a:lnTo>
                <a:cubicBezTo>
                  <a:pt x="69921" y="1928213"/>
                  <a:pt x="634366" y="708413"/>
                  <a:pt x="1597331" y="14997"/>
                </a:cubicBezTo>
                <a:close/>
              </a:path>
            </a:pathLst>
          </a:custGeom>
        </p:spPr>
      </p:pic>
      <p:sp>
        <p:nvSpPr>
          <p:cNvPr id="49" name="Freeform: Shape 48">
            <a:extLst>
              <a:ext uri="{FF2B5EF4-FFF2-40B4-BE49-F238E27FC236}">
                <a16:creationId xmlns:a16="http://schemas.microsoft.com/office/drawing/2014/main" id="{479F0FB3-8461-462D-84A2-53106FBF4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528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11E3C311-4E8A-45D9-97BF-07F5FD346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9857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27" name="Picture 26" descr="A person giving thumbs up while sitting at a table&#10;&#10;Description automatically generated">
            <a:extLst>
              <a:ext uri="{FF2B5EF4-FFF2-40B4-BE49-F238E27FC236}">
                <a16:creationId xmlns:a16="http://schemas.microsoft.com/office/drawing/2014/main" id="{FC5446EF-D1C9-7E64-9750-8098DC4BEE7A}"/>
              </a:ext>
            </a:extLst>
          </p:cNvPr>
          <p:cNvPicPr>
            <a:picLocks noChangeAspect="1"/>
          </p:cNvPicPr>
          <p:nvPr/>
        </p:nvPicPr>
        <p:blipFill rotWithShape="1">
          <a:blip r:embed="rId3">
            <a:extLst>
              <a:ext uri="{28A0092B-C50C-407E-A947-70E740481C1C}">
                <a14:useLocalDpi xmlns:a14="http://schemas.microsoft.com/office/drawing/2010/main" val="0"/>
              </a:ext>
            </a:extLst>
          </a:blip>
          <a:srcRect r="1563" b="1"/>
          <a:stretch/>
        </p:blipFill>
        <p:spPr>
          <a:xfrm>
            <a:off x="7290230" y="3534156"/>
            <a:ext cx="4901771" cy="3323844"/>
          </a:xfrm>
          <a:custGeom>
            <a:avLst/>
            <a:gdLst/>
            <a:ahLst/>
            <a:cxnLst/>
            <a:rect l="l" t="t" r="r" b="b"/>
            <a:pathLst>
              <a:path w="4901771" h="3305556">
                <a:moveTo>
                  <a:pt x="1630" y="0"/>
                </a:moveTo>
                <a:lnTo>
                  <a:pt x="4901771" y="0"/>
                </a:lnTo>
                <a:lnTo>
                  <a:pt x="4901771" y="3305556"/>
                </a:lnTo>
                <a:lnTo>
                  <a:pt x="4710787" y="3305556"/>
                </a:lnTo>
                <a:lnTo>
                  <a:pt x="4544484" y="3305556"/>
                </a:lnTo>
                <a:lnTo>
                  <a:pt x="3496422" y="3305556"/>
                </a:lnTo>
                <a:lnTo>
                  <a:pt x="2716256" y="3305556"/>
                </a:lnTo>
                <a:lnTo>
                  <a:pt x="2502754" y="3305556"/>
                </a:lnTo>
                <a:lnTo>
                  <a:pt x="2390998" y="3228155"/>
                </a:lnTo>
                <a:cubicBezTo>
                  <a:pt x="2217180" y="3100664"/>
                  <a:pt x="2046553" y="2962953"/>
                  <a:pt x="1874350" y="2822370"/>
                </a:cubicBezTo>
                <a:cubicBezTo>
                  <a:pt x="928725" y="2050395"/>
                  <a:pt x="0" y="1416687"/>
                  <a:pt x="0" y="69212"/>
                </a:cubicBezTo>
                <a:close/>
              </a:path>
            </a:pathLst>
          </a:custGeom>
        </p:spPr>
      </p:pic>
      <p:sp>
        <p:nvSpPr>
          <p:cNvPr id="33" name="TextBox 32">
            <a:extLst>
              <a:ext uri="{FF2B5EF4-FFF2-40B4-BE49-F238E27FC236}">
                <a16:creationId xmlns:a16="http://schemas.microsoft.com/office/drawing/2014/main" id="{88BF661D-A884-5002-5315-74E7107C07A8}"/>
              </a:ext>
            </a:extLst>
          </p:cNvPr>
          <p:cNvSpPr txBox="1"/>
          <p:nvPr/>
        </p:nvSpPr>
        <p:spPr>
          <a:xfrm>
            <a:off x="102249" y="6284730"/>
            <a:ext cx="1964988" cy="369332"/>
          </a:xfrm>
          <a:prstGeom prst="rect">
            <a:avLst/>
          </a:prstGeom>
          <a:noFill/>
        </p:spPr>
        <p:txBody>
          <a:bodyPr wrap="square" rtlCol="0">
            <a:spAutoFit/>
          </a:bodyPr>
          <a:lstStyle/>
          <a:p>
            <a:r>
              <a:rPr lang="en-US" dirty="0">
                <a:solidFill>
                  <a:schemeClr val="bg2">
                    <a:lumMod val="50000"/>
                  </a:schemeClr>
                </a:solidFill>
                <a:effectLst>
                  <a:outerShdw blurRad="38100" dist="38100" dir="2700000" algn="tl">
                    <a:srgbClr val="000000">
                      <a:alpha val="43137"/>
                    </a:srgbClr>
                  </a:outerShdw>
                </a:effectLst>
              </a:rPr>
              <a:t>Dr. Nora Nizy </a:t>
            </a:r>
          </a:p>
        </p:txBody>
      </p:sp>
      <p:sp>
        <p:nvSpPr>
          <p:cNvPr id="4" name="TextBox 3">
            <a:extLst>
              <a:ext uri="{FF2B5EF4-FFF2-40B4-BE49-F238E27FC236}">
                <a16:creationId xmlns:a16="http://schemas.microsoft.com/office/drawing/2014/main" id="{E22613B3-66C7-A67B-594F-EA2068E4C0D1}"/>
              </a:ext>
            </a:extLst>
          </p:cNvPr>
          <p:cNvSpPr txBox="1"/>
          <p:nvPr/>
        </p:nvSpPr>
        <p:spPr>
          <a:xfrm>
            <a:off x="5210418" y="6284730"/>
            <a:ext cx="2536434" cy="369332"/>
          </a:xfrm>
          <a:prstGeom prst="rect">
            <a:avLst/>
          </a:prstGeom>
          <a:noFill/>
        </p:spPr>
        <p:txBody>
          <a:bodyPr wrap="square" rtlCol="0">
            <a:spAutoFit/>
          </a:bodyPr>
          <a:lstStyle/>
          <a:p>
            <a:r>
              <a:rPr lang="en-US" dirty="0">
                <a:solidFill>
                  <a:schemeClr val="bg2">
                    <a:lumMod val="50000"/>
                  </a:schemeClr>
                </a:solidFill>
                <a:effectLst>
                  <a:outerShdw blurRad="38100" dist="38100" dir="2700000" algn="tl">
                    <a:srgbClr val="000000">
                      <a:alpha val="43137"/>
                    </a:srgbClr>
                  </a:outerShdw>
                </a:effectLst>
              </a:rPr>
              <a:t>Eng. Ahmed Fouad </a:t>
            </a:r>
          </a:p>
        </p:txBody>
      </p:sp>
    </p:spTree>
    <p:extLst>
      <p:ext uri="{BB962C8B-B14F-4D97-AF65-F5344CB8AC3E}">
        <p14:creationId xmlns:p14="http://schemas.microsoft.com/office/powerpoint/2010/main" val="2168983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5D152-3138-C353-B9E9-079CA70F0D37}"/>
              </a:ext>
            </a:extLst>
          </p:cNvPr>
          <p:cNvSpPr txBox="1">
            <a:spLocks/>
          </p:cNvSpPr>
          <p:nvPr/>
        </p:nvSpPr>
        <p:spPr>
          <a:xfrm>
            <a:off x="1920240" y="442220"/>
            <a:ext cx="8770571" cy="1345269"/>
          </a:xfrm>
          <a:prstGeom prst="rect">
            <a:avLst/>
          </a:prstGeom>
        </p:spPr>
        <p:txBody>
          <a:bodyPr/>
          <a:lst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a:lstStyle>
          <a:p>
            <a:r>
              <a:rPr lang="en-US"/>
              <a:t>Team Members:</a:t>
            </a:r>
            <a:endParaRPr lang="en-US" dirty="0"/>
          </a:p>
        </p:txBody>
      </p:sp>
      <p:graphicFrame>
        <p:nvGraphicFramePr>
          <p:cNvPr id="3" name="Table 2">
            <a:extLst>
              <a:ext uri="{FF2B5EF4-FFF2-40B4-BE49-F238E27FC236}">
                <a16:creationId xmlns:a16="http://schemas.microsoft.com/office/drawing/2014/main" id="{435ACD94-C799-D826-4AEF-70B55BC5C1A5}"/>
              </a:ext>
            </a:extLst>
          </p:cNvPr>
          <p:cNvGraphicFramePr>
            <a:graphicFrameLocks noGrp="1"/>
          </p:cNvGraphicFramePr>
          <p:nvPr>
            <p:extLst>
              <p:ext uri="{D42A27DB-BD31-4B8C-83A1-F6EECF244321}">
                <p14:modId xmlns:p14="http://schemas.microsoft.com/office/powerpoint/2010/main" val="2285530661"/>
              </p:ext>
            </p:extLst>
          </p:nvPr>
        </p:nvGraphicFramePr>
        <p:xfrm>
          <a:off x="631596" y="1783885"/>
          <a:ext cx="10501460" cy="3337081"/>
        </p:xfrm>
        <a:graphic>
          <a:graphicData uri="http://schemas.openxmlformats.org/drawingml/2006/table">
            <a:tbl>
              <a:tblPr firstRow="1" bandRow="1">
                <a:noFill/>
                <a:tableStyleId>{C083E6E3-FA7D-4D7B-A595-EF9225AFEA82}</a:tableStyleId>
              </a:tblPr>
              <a:tblGrid>
                <a:gridCol w="4702726">
                  <a:extLst>
                    <a:ext uri="{9D8B030D-6E8A-4147-A177-3AD203B41FA5}">
                      <a16:colId xmlns:a16="http://schemas.microsoft.com/office/drawing/2014/main" val="816813897"/>
                    </a:ext>
                  </a:extLst>
                </a:gridCol>
                <a:gridCol w="5798734">
                  <a:extLst>
                    <a:ext uri="{9D8B030D-6E8A-4147-A177-3AD203B41FA5}">
                      <a16:colId xmlns:a16="http://schemas.microsoft.com/office/drawing/2014/main" val="2193133534"/>
                    </a:ext>
                  </a:extLst>
                </a:gridCol>
              </a:tblGrid>
              <a:tr h="413084">
                <a:tc>
                  <a:txBody>
                    <a:bodyPr/>
                    <a:lstStyle/>
                    <a:p>
                      <a:r>
                        <a:rPr lang="en-US" sz="2000" b="1" cap="all" spc="60" dirty="0">
                          <a:solidFill>
                            <a:srgbClr val="FFFFFF"/>
                          </a:solidFill>
                        </a:rPr>
                        <a:t>Members </a:t>
                      </a:r>
                    </a:p>
                  </a:txBody>
                  <a:tcPr marL="286933" marR="172160" marT="172160" marB="172160"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r>
                        <a:rPr lang="en-US" sz="2000" b="1" cap="all" spc="60">
                          <a:solidFill>
                            <a:srgbClr val="FFFFFF"/>
                          </a:solidFill>
                        </a:rPr>
                        <a:t>Role </a:t>
                      </a:r>
                    </a:p>
                  </a:txBody>
                  <a:tcPr marL="286933" marR="172160" marT="172160" marB="172160"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2482740362"/>
                  </a:ext>
                </a:extLst>
              </a:tr>
              <a:tr h="776233">
                <a:tc>
                  <a:txBody>
                    <a:bodyPr/>
                    <a:lstStyle/>
                    <a:p>
                      <a:r>
                        <a:rPr lang="en-US" sz="2000" cap="none" spc="0" dirty="0">
                          <a:solidFill>
                            <a:schemeClr val="tx1">
                              <a:lumMod val="85000"/>
                              <a:lumOff val="15000"/>
                            </a:schemeClr>
                          </a:solidFill>
                        </a:rPr>
                        <a:t>Khalid Mohamed Nigm</a:t>
                      </a:r>
                    </a:p>
                    <a:p>
                      <a:r>
                        <a:rPr lang="en-US" sz="2000" cap="none" spc="0" dirty="0">
                          <a:solidFill>
                            <a:schemeClr val="tx1">
                              <a:lumMod val="85000"/>
                              <a:lumOff val="15000"/>
                            </a:schemeClr>
                          </a:solidFill>
                        </a:rPr>
                        <a:t>(Team Leader)</a:t>
                      </a:r>
                    </a:p>
                  </a:txBody>
                  <a:tcPr marL="286933" marR="172160" marT="172160" marB="172160">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cap="none" spc="0">
                          <a:solidFill>
                            <a:schemeClr val="tx1">
                              <a:lumMod val="85000"/>
                              <a:lumOff val="15000"/>
                            </a:schemeClr>
                          </a:solidFill>
                        </a:rPr>
                        <a:t>machine learning engineer &amp; flutter developer </a:t>
                      </a:r>
                    </a:p>
                  </a:txBody>
                  <a:tcPr marL="286933" marR="172160" marT="172160" marB="172160">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898849732"/>
                  </a:ext>
                </a:extLst>
              </a:tr>
              <a:tr h="776233">
                <a:tc>
                  <a:txBody>
                    <a:bodyPr/>
                    <a:lstStyle/>
                    <a:p>
                      <a:r>
                        <a:rPr lang="en-US" sz="2000" cap="none" spc="0">
                          <a:solidFill>
                            <a:schemeClr val="tx1">
                              <a:lumMod val="85000"/>
                              <a:lumOff val="15000"/>
                            </a:schemeClr>
                          </a:solidFill>
                        </a:rPr>
                        <a:t>Amr Sabry Mohamed Albary</a:t>
                      </a:r>
                    </a:p>
                  </a:txBody>
                  <a:tcPr marL="286933" marR="172160" marT="172160" marB="172160">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cap="none" spc="0">
                          <a:solidFill>
                            <a:schemeClr val="tx1">
                              <a:lumMod val="85000"/>
                              <a:lumOff val="15000"/>
                            </a:schemeClr>
                          </a:solidFill>
                        </a:rPr>
                        <a:t>flutter developer </a:t>
                      </a:r>
                    </a:p>
                  </a:txBody>
                  <a:tcPr marL="286933" marR="172160" marT="172160" marB="172160">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261788395"/>
                  </a:ext>
                </a:extLst>
              </a:tr>
              <a:tr h="957808">
                <a:tc>
                  <a:txBody>
                    <a:bodyPr/>
                    <a:lstStyle/>
                    <a:p>
                      <a:r>
                        <a:rPr lang="en-US" sz="2000" cap="none" spc="0">
                          <a:solidFill>
                            <a:schemeClr val="tx1">
                              <a:lumMod val="85000"/>
                              <a:lumOff val="15000"/>
                            </a:schemeClr>
                          </a:solidFill>
                        </a:rPr>
                        <a:t>Osama Gamal Hamed Ramadan </a:t>
                      </a:r>
                    </a:p>
                  </a:txBody>
                  <a:tcPr marL="286933" marR="172160" marT="172160" marB="172160">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cap="none" spc="0" dirty="0">
                          <a:solidFill>
                            <a:schemeClr val="tx1">
                              <a:lumMod val="85000"/>
                              <a:lumOff val="15000"/>
                            </a:schemeClr>
                          </a:solidFill>
                        </a:rPr>
                        <a:t>flutter developer </a:t>
                      </a:r>
                    </a:p>
                  </a:txBody>
                  <a:tcPr marL="286933" marR="172160" marT="172160" marB="172160">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3575566717"/>
                  </a:ext>
                </a:extLst>
              </a:tr>
            </a:tbl>
          </a:graphicData>
        </a:graphic>
      </p:graphicFrame>
    </p:spTree>
    <p:extLst>
      <p:ext uri="{BB962C8B-B14F-4D97-AF65-F5344CB8AC3E}">
        <p14:creationId xmlns:p14="http://schemas.microsoft.com/office/powerpoint/2010/main" val="6745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4" name="Freeform: Shape 33">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6" name="Freeform: Shape 35">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8" name="Freeform: Shape 37">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7195D06B-05C4-E481-EE98-85977C28A2B0}"/>
              </a:ext>
            </a:extLst>
          </p:cNvPr>
          <p:cNvSpPr>
            <a:spLocks noGrp="1"/>
          </p:cNvSpPr>
          <p:nvPr>
            <p:ph type="title"/>
          </p:nvPr>
        </p:nvSpPr>
        <p:spPr>
          <a:xfrm>
            <a:off x="992518" y="442913"/>
            <a:ext cx="5185645" cy="1639888"/>
          </a:xfrm>
        </p:spPr>
        <p:txBody>
          <a:bodyPr anchor="b">
            <a:normAutofit/>
          </a:bodyPr>
          <a:lstStyle/>
          <a:p>
            <a:r>
              <a:rPr lang="en-US" dirty="0"/>
              <a:t>Introduction</a:t>
            </a:r>
          </a:p>
        </p:txBody>
      </p:sp>
      <p:sp>
        <p:nvSpPr>
          <p:cNvPr id="3" name="Content Placeholder 2">
            <a:extLst>
              <a:ext uri="{FF2B5EF4-FFF2-40B4-BE49-F238E27FC236}">
                <a16:creationId xmlns:a16="http://schemas.microsoft.com/office/drawing/2014/main" id="{0AFE9E9E-300E-20ED-0E1A-03612A837CA3}"/>
              </a:ext>
            </a:extLst>
          </p:cNvPr>
          <p:cNvSpPr>
            <a:spLocks noGrp="1"/>
          </p:cNvSpPr>
          <p:nvPr>
            <p:ph idx="1"/>
          </p:nvPr>
        </p:nvSpPr>
        <p:spPr>
          <a:xfrm>
            <a:off x="992519" y="2312988"/>
            <a:ext cx="5296964" cy="3651250"/>
          </a:xfrm>
        </p:spPr>
        <p:txBody>
          <a:bodyPr>
            <a:normAutofit/>
          </a:bodyPr>
          <a:lstStyle/>
          <a:p>
            <a:r>
              <a:rPr lang="en-US" dirty="0"/>
              <a:t>In a world that heavily relies on verbal communication, individuals who are deaf or mute often face significant barriers in expressing themselves and connecting with others. However, with the revolutionary Unheard Voices app, we aim to break down these barriers and enable seamless communication for the deaf and mute community.</a:t>
            </a:r>
          </a:p>
        </p:txBody>
      </p:sp>
      <p:pic>
        <p:nvPicPr>
          <p:cNvPr id="7" name="Graphic 6" descr="Deaf">
            <a:extLst>
              <a:ext uri="{FF2B5EF4-FFF2-40B4-BE49-F238E27FC236}">
                <a16:creationId xmlns:a16="http://schemas.microsoft.com/office/drawing/2014/main" id="{172C7EFB-220C-5678-E02A-DEBBE979CE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7967" y="1934660"/>
            <a:ext cx="2988679" cy="2988679"/>
          </a:xfrm>
          <a:prstGeom prst="rect">
            <a:avLst/>
          </a:prstGeom>
        </p:spPr>
      </p:pic>
    </p:spTree>
    <p:extLst>
      <p:ext uri="{BB962C8B-B14F-4D97-AF65-F5344CB8AC3E}">
        <p14:creationId xmlns:p14="http://schemas.microsoft.com/office/powerpoint/2010/main" val="4130666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430127AE-B29E-4FDF-99D2-A2F1E7003F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49BB7E9A-6937-4BF0-9F51-A20F197B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E0939753-89D7-48A8-8441-B9FF25CE8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4167" y="0"/>
            <a:ext cx="5687681" cy="5708856"/>
          </a:xfrm>
          <a:custGeom>
            <a:avLst/>
            <a:gdLst>
              <a:gd name="connsiteX0" fmla="*/ 2787282 w 5687681"/>
              <a:gd name="connsiteY0" fmla="*/ 0 h 5708856"/>
              <a:gd name="connsiteX1" fmla="*/ 3988996 w 5687681"/>
              <a:gd name="connsiteY1" fmla="*/ 0 h 5708856"/>
              <a:gd name="connsiteX2" fmla="*/ 4236253 w 5687681"/>
              <a:gd name="connsiteY2" fmla="*/ 68070 h 5708856"/>
              <a:gd name="connsiteX3" fmla="*/ 4483543 w 5687681"/>
              <a:gd name="connsiteY3" fmla="*/ 168573 h 5708856"/>
              <a:gd name="connsiteX4" fmla="*/ 5265611 w 5687681"/>
              <a:gd name="connsiteY4" fmla="*/ 790441 h 5708856"/>
              <a:gd name="connsiteX5" fmla="*/ 5682608 w 5687681"/>
              <a:gd name="connsiteY5" fmla="*/ 1499885 h 5708856"/>
              <a:gd name="connsiteX6" fmla="*/ 5687681 w 5687681"/>
              <a:gd name="connsiteY6" fmla="*/ 1513862 h 5708856"/>
              <a:gd name="connsiteX7" fmla="*/ 5687681 w 5687681"/>
              <a:gd name="connsiteY7" fmla="*/ 3841322 h 5708856"/>
              <a:gd name="connsiteX8" fmla="*/ 5651147 w 5687681"/>
              <a:gd name="connsiteY8" fmla="*/ 3896489 h 5708856"/>
              <a:gd name="connsiteX9" fmla="*/ 4734255 w 5687681"/>
              <a:gd name="connsiteY9" fmla="*/ 4737639 h 5708856"/>
              <a:gd name="connsiteX10" fmla="*/ 4532663 w 5687681"/>
              <a:gd name="connsiteY10" fmla="*/ 4898543 h 5708856"/>
              <a:gd name="connsiteX11" fmla="*/ 2876165 w 5687681"/>
              <a:gd name="connsiteY11" fmla="*/ 5708856 h 5708856"/>
              <a:gd name="connsiteX12" fmla="*/ 694066 w 5687681"/>
              <a:gd name="connsiteY12" fmla="*/ 4391717 h 5708856"/>
              <a:gd name="connsiteX13" fmla="*/ 461517 w 5687681"/>
              <a:gd name="connsiteY13" fmla="*/ 4054756 h 5708856"/>
              <a:gd name="connsiteX14" fmla="*/ 0 w 5687681"/>
              <a:gd name="connsiteY14" fmla="*/ 2993139 h 5708856"/>
              <a:gd name="connsiteX15" fmla="*/ 278855 w 5687681"/>
              <a:gd name="connsiteY15" fmla="*/ 1849819 h 5708856"/>
              <a:gd name="connsiteX16" fmla="*/ 1047879 w 5687681"/>
              <a:gd name="connsiteY16" fmla="*/ 867400 h 5708856"/>
              <a:gd name="connsiteX17" fmla="*/ 2159714 w 5687681"/>
              <a:gd name="connsiteY17" fmla="*/ 186098 h 5708856"/>
              <a:gd name="connsiteX18" fmla="*/ 2785137 w 5687681"/>
              <a:gd name="connsiteY18" fmla="*/ 372 h 570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7681" h="5708856">
                <a:moveTo>
                  <a:pt x="2787282" y="0"/>
                </a:moveTo>
                <a:lnTo>
                  <a:pt x="3988996" y="0"/>
                </a:lnTo>
                <a:lnTo>
                  <a:pt x="4236253" y="68070"/>
                </a:lnTo>
                <a:cubicBezTo>
                  <a:pt x="4321147" y="96843"/>
                  <a:pt x="4403628" y="130356"/>
                  <a:pt x="4483543" y="168573"/>
                </a:cubicBezTo>
                <a:cubicBezTo>
                  <a:pt x="4783119" y="311949"/>
                  <a:pt x="5046239" y="521215"/>
                  <a:pt x="5265611" y="790441"/>
                </a:cubicBezTo>
                <a:cubicBezTo>
                  <a:pt x="5433740" y="996857"/>
                  <a:pt x="5573537" y="1235870"/>
                  <a:pt x="5682608" y="1499885"/>
                </a:cubicBezTo>
                <a:lnTo>
                  <a:pt x="5687681" y="1513862"/>
                </a:lnTo>
                <a:lnTo>
                  <a:pt x="5687681" y="3841322"/>
                </a:lnTo>
                <a:lnTo>
                  <a:pt x="5651147" y="3896489"/>
                </a:lnTo>
                <a:cubicBezTo>
                  <a:pt x="5427171" y="4186934"/>
                  <a:pt x="5090625" y="4454446"/>
                  <a:pt x="4734255" y="4737639"/>
                </a:cubicBezTo>
                <a:cubicBezTo>
                  <a:pt x="4668506" y="4789825"/>
                  <a:pt x="4600584" y="4843856"/>
                  <a:pt x="4532663" y="4898543"/>
                </a:cubicBezTo>
                <a:cubicBezTo>
                  <a:pt x="3924681" y="5387974"/>
                  <a:pt x="3480945" y="5708856"/>
                  <a:pt x="2876165" y="5708856"/>
                </a:cubicBezTo>
                <a:cubicBezTo>
                  <a:pt x="1954665" y="5708856"/>
                  <a:pt x="1302047" y="5314966"/>
                  <a:pt x="694066" y="4391717"/>
                </a:cubicBezTo>
                <a:cubicBezTo>
                  <a:pt x="614503" y="4270875"/>
                  <a:pt x="536731" y="4160972"/>
                  <a:pt x="461517" y="4054756"/>
                </a:cubicBezTo>
                <a:cubicBezTo>
                  <a:pt x="149788" y="3614348"/>
                  <a:pt x="0" y="3385316"/>
                  <a:pt x="0" y="2993139"/>
                </a:cubicBezTo>
                <a:cubicBezTo>
                  <a:pt x="0" y="2603731"/>
                  <a:pt x="93889" y="2219065"/>
                  <a:pt x="278855" y="1849819"/>
                </a:cubicBezTo>
                <a:cubicBezTo>
                  <a:pt x="459854" y="1488610"/>
                  <a:pt x="718625" y="1157977"/>
                  <a:pt x="1047879" y="867400"/>
                </a:cubicBezTo>
                <a:cubicBezTo>
                  <a:pt x="1371504" y="581701"/>
                  <a:pt x="1755887" y="346080"/>
                  <a:pt x="2159714" y="186098"/>
                </a:cubicBezTo>
                <a:cubicBezTo>
                  <a:pt x="2367064" y="103803"/>
                  <a:pt x="2576044" y="41801"/>
                  <a:pt x="2785137" y="372"/>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9F5CCFC5-858F-4B45-9B10-D49DD0280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5450" y="0"/>
            <a:ext cx="5866550" cy="5788550"/>
          </a:xfrm>
          <a:custGeom>
            <a:avLst/>
            <a:gdLst>
              <a:gd name="connsiteX0" fmla="*/ 2331396 w 5798121"/>
              <a:gd name="connsiteY0" fmla="*/ 0 h 5788550"/>
              <a:gd name="connsiteX1" fmla="*/ 4658651 w 5798121"/>
              <a:gd name="connsiteY1" fmla="*/ 0 h 5788550"/>
              <a:gd name="connsiteX2" fmla="*/ 4682835 w 5798121"/>
              <a:gd name="connsiteY2" fmla="*/ 9816 h 5788550"/>
              <a:gd name="connsiteX3" fmla="*/ 5499667 w 5798121"/>
              <a:gd name="connsiteY3" fmla="*/ 658449 h 5788550"/>
              <a:gd name="connsiteX4" fmla="*/ 5665313 w 5798121"/>
              <a:gd name="connsiteY4" fmla="*/ 884789 h 5788550"/>
              <a:gd name="connsiteX5" fmla="*/ 5798121 w 5798121"/>
              <a:gd name="connsiteY5" fmla="*/ 1110681 h 5788550"/>
              <a:gd name="connsiteX6" fmla="*/ 5798121 w 5798121"/>
              <a:gd name="connsiteY6" fmla="*/ 4016954 h 5788550"/>
              <a:gd name="connsiteX7" fmla="*/ 5706359 w 5798121"/>
              <a:gd name="connsiteY7" fmla="*/ 4121532 h 5788550"/>
              <a:gd name="connsiteX8" fmla="*/ 4944692 w 5798121"/>
              <a:gd name="connsiteY8" fmla="*/ 4775532 h 5788550"/>
              <a:gd name="connsiteX9" fmla="*/ 4734137 w 5798121"/>
              <a:gd name="connsiteY9" fmla="*/ 4943362 h 5788550"/>
              <a:gd name="connsiteX10" fmla="*/ 3004009 w 5798121"/>
              <a:gd name="connsiteY10" fmla="*/ 5788550 h 5788550"/>
              <a:gd name="connsiteX11" fmla="*/ 724917 w 5798121"/>
              <a:gd name="connsiteY11" fmla="*/ 4414722 h 5788550"/>
              <a:gd name="connsiteX12" fmla="*/ 482031 w 5798121"/>
              <a:gd name="connsiteY12" fmla="*/ 4063258 h 5788550"/>
              <a:gd name="connsiteX13" fmla="*/ 0 w 5798121"/>
              <a:gd name="connsiteY13" fmla="*/ 2955950 h 5788550"/>
              <a:gd name="connsiteX14" fmla="*/ 291250 w 5798121"/>
              <a:gd name="connsiteY14" fmla="*/ 1763422 h 5788550"/>
              <a:gd name="connsiteX15" fmla="*/ 1094457 w 5798121"/>
              <a:gd name="connsiteY15" fmla="*/ 738720 h 5788550"/>
              <a:gd name="connsiteX16" fmla="*/ 2255713 w 5798121"/>
              <a:gd name="connsiteY16" fmla="*/ 28095 h 5788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98121" h="5788550">
                <a:moveTo>
                  <a:pt x="2331396" y="0"/>
                </a:moveTo>
                <a:lnTo>
                  <a:pt x="4658651" y="0"/>
                </a:lnTo>
                <a:lnTo>
                  <a:pt x="4682835" y="9816"/>
                </a:lnTo>
                <a:cubicBezTo>
                  <a:pt x="4995727" y="159362"/>
                  <a:pt x="5270543" y="377635"/>
                  <a:pt x="5499667" y="658449"/>
                </a:cubicBezTo>
                <a:cubicBezTo>
                  <a:pt x="5558201" y="730215"/>
                  <a:pt x="5613447" y="805760"/>
                  <a:pt x="5665313" y="884789"/>
                </a:cubicBezTo>
                <a:lnTo>
                  <a:pt x="5798121" y="1110681"/>
                </a:lnTo>
                <a:lnTo>
                  <a:pt x="5798121" y="4016954"/>
                </a:lnTo>
                <a:lnTo>
                  <a:pt x="5706359" y="4121532"/>
                </a:lnTo>
                <a:cubicBezTo>
                  <a:pt x="5491360" y="4341659"/>
                  <a:pt x="5223849" y="4553996"/>
                  <a:pt x="4944692" y="4775532"/>
                </a:cubicBezTo>
                <a:cubicBezTo>
                  <a:pt x="4876021" y="4829964"/>
                  <a:pt x="4805079" y="4886320"/>
                  <a:pt x="4734137" y="4943362"/>
                </a:cubicBezTo>
                <a:cubicBezTo>
                  <a:pt x="4099133" y="5453857"/>
                  <a:pt x="3635672" y="5788550"/>
                  <a:pt x="3004009" y="5788550"/>
                </a:cubicBezTo>
                <a:cubicBezTo>
                  <a:pt x="2041550" y="5788550"/>
                  <a:pt x="1359922" y="5377707"/>
                  <a:pt x="724917" y="4414722"/>
                </a:cubicBezTo>
                <a:cubicBezTo>
                  <a:pt x="641818" y="4288679"/>
                  <a:pt x="560588" y="4174046"/>
                  <a:pt x="482031" y="4063258"/>
                </a:cubicBezTo>
                <a:cubicBezTo>
                  <a:pt x="156446" y="3603895"/>
                  <a:pt x="0" y="3365006"/>
                  <a:pt x="0" y="2955950"/>
                </a:cubicBezTo>
                <a:cubicBezTo>
                  <a:pt x="0" y="2549782"/>
                  <a:pt x="98062" y="2148559"/>
                  <a:pt x="291250" y="1763422"/>
                </a:cubicBezTo>
                <a:cubicBezTo>
                  <a:pt x="480295" y="1386666"/>
                  <a:pt x="750568" y="1041802"/>
                  <a:pt x="1094457" y="738720"/>
                </a:cubicBezTo>
                <a:cubicBezTo>
                  <a:pt x="1432467" y="440725"/>
                  <a:pt x="1833935" y="194963"/>
                  <a:pt x="2255713" y="28095"/>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4" name="TextBox 3">
            <a:extLst>
              <a:ext uri="{FF2B5EF4-FFF2-40B4-BE49-F238E27FC236}">
                <a16:creationId xmlns:a16="http://schemas.microsoft.com/office/drawing/2014/main" id="{B1045F62-5031-08AD-BE8E-F068B80768D7}"/>
              </a:ext>
            </a:extLst>
          </p:cNvPr>
          <p:cNvSpPr txBox="1"/>
          <p:nvPr/>
        </p:nvSpPr>
        <p:spPr>
          <a:xfrm>
            <a:off x="894475" y="-784843"/>
            <a:ext cx="5411050" cy="1822123"/>
          </a:xfrm>
          <a:prstGeom prst="rect">
            <a:avLst/>
          </a:prstGeom>
        </p:spPr>
        <p:txBody>
          <a:bodyPr vert="horz" lIns="109728" tIns="109728" rIns="109728" bIns="91440" rtlCol="0" anchor="b">
            <a:normAutofit/>
          </a:bodyPr>
          <a:lstStyle/>
          <a:p>
            <a:pPr defTabSz="914400">
              <a:lnSpc>
                <a:spcPct val="130000"/>
              </a:lnSpc>
              <a:spcBef>
                <a:spcPct val="0"/>
              </a:spcBef>
              <a:spcAft>
                <a:spcPts val="600"/>
              </a:spcAft>
            </a:pPr>
            <a:r>
              <a:rPr lang="en-US" sz="3200" b="1" spc="150" dirty="0">
                <a:solidFill>
                  <a:schemeClr val="tx1">
                    <a:lumMod val="75000"/>
                    <a:lumOff val="25000"/>
                  </a:schemeClr>
                </a:solidFill>
                <a:latin typeface="+mj-lt"/>
                <a:ea typeface="+mj-ea"/>
                <a:cs typeface="+mj-cs"/>
              </a:rPr>
              <a:t>Problem Definition:</a:t>
            </a:r>
          </a:p>
        </p:txBody>
      </p:sp>
      <p:sp>
        <p:nvSpPr>
          <p:cNvPr id="5" name="TextBox 4">
            <a:extLst>
              <a:ext uri="{FF2B5EF4-FFF2-40B4-BE49-F238E27FC236}">
                <a16:creationId xmlns:a16="http://schemas.microsoft.com/office/drawing/2014/main" id="{550F59F8-6276-137A-62DC-C81A1AB6BB1D}"/>
              </a:ext>
            </a:extLst>
          </p:cNvPr>
          <p:cNvSpPr txBox="1"/>
          <p:nvPr/>
        </p:nvSpPr>
        <p:spPr>
          <a:xfrm>
            <a:off x="894475" y="1120669"/>
            <a:ext cx="5181599" cy="3467518"/>
          </a:xfrm>
          <a:prstGeom prst="rect">
            <a:avLst/>
          </a:prstGeom>
        </p:spPr>
        <p:txBody>
          <a:bodyPr vert="horz" lIns="109728" tIns="109728" rIns="109728" bIns="91440" rtlCol="0" anchor="t">
            <a:noAutofit/>
          </a:bodyPr>
          <a:lstStyle/>
          <a:p>
            <a:pPr defTabSz="914400">
              <a:lnSpc>
                <a:spcPct val="130000"/>
              </a:lnSpc>
              <a:spcBef>
                <a:spcPts val="930"/>
              </a:spcBef>
              <a:buFont typeface="Corbel" panose="020B0503020204020204" pitchFamily="34" charset="0"/>
            </a:pPr>
            <a:r>
              <a:rPr lang="en-US" spc="150" dirty="0">
                <a:solidFill>
                  <a:schemeClr val="tx1">
                    <a:lumMod val="75000"/>
                    <a:lumOff val="25000"/>
                  </a:schemeClr>
                </a:solidFill>
              </a:rPr>
              <a:t>The issue at hand is the limited educational opportunities and challenges faced by students who are deaf and dumb or have hearing and speech disabilities. These students struggle to access quality education due to various barriers that impede their learning and development.</a:t>
            </a:r>
          </a:p>
          <a:p>
            <a:pPr defTabSz="914400">
              <a:lnSpc>
                <a:spcPct val="130000"/>
              </a:lnSpc>
              <a:spcBef>
                <a:spcPts val="930"/>
              </a:spcBef>
              <a:buFont typeface="Corbel" panose="020B0503020204020204" pitchFamily="34" charset="0"/>
            </a:pPr>
            <a:endParaRPr lang="en-US" spc="150" dirty="0">
              <a:solidFill>
                <a:schemeClr val="tx1">
                  <a:lumMod val="75000"/>
                  <a:lumOff val="25000"/>
                </a:schemeClr>
              </a:solidFill>
            </a:endParaRPr>
          </a:p>
          <a:p>
            <a:pPr defTabSz="914400">
              <a:lnSpc>
                <a:spcPct val="130000"/>
              </a:lnSpc>
              <a:spcBef>
                <a:spcPts val="930"/>
              </a:spcBef>
              <a:buFont typeface="Corbel" panose="020B0503020204020204" pitchFamily="34" charset="0"/>
            </a:pPr>
            <a:r>
              <a:rPr lang="en-US" spc="150" dirty="0">
                <a:solidFill>
                  <a:schemeClr val="tx1">
                    <a:lumMod val="75000"/>
                    <a:lumOff val="25000"/>
                  </a:schemeClr>
                </a:solidFill>
              </a:rPr>
              <a:t>So Deaf People must attend special schools to give them the particular education and support they need to succeed.</a:t>
            </a:r>
          </a:p>
        </p:txBody>
      </p:sp>
      <p:sp>
        <p:nvSpPr>
          <p:cNvPr id="24" name="Freeform: Shape 23">
            <a:extLst>
              <a:ext uri="{FF2B5EF4-FFF2-40B4-BE49-F238E27FC236}">
                <a16:creationId xmlns:a16="http://schemas.microsoft.com/office/drawing/2014/main" id="{2348ECDC-D455-4B71-90F6-2ECC12B79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3734" y="0"/>
            <a:ext cx="5568114" cy="5577748"/>
          </a:xfrm>
          <a:custGeom>
            <a:avLst/>
            <a:gdLst>
              <a:gd name="connsiteX0" fmla="*/ 2959946 w 5568114"/>
              <a:gd name="connsiteY0" fmla="*/ 0 h 5577748"/>
              <a:gd name="connsiteX1" fmla="*/ 3614224 w 5568114"/>
              <a:gd name="connsiteY1" fmla="*/ 0 h 5577748"/>
              <a:gd name="connsiteX2" fmla="*/ 3844432 w 5568114"/>
              <a:gd name="connsiteY2" fmla="*/ 36392 h 5577748"/>
              <a:gd name="connsiteX3" fmla="*/ 4336826 w 5568114"/>
              <a:gd name="connsiteY3" fmla="*/ 203778 h 5577748"/>
              <a:gd name="connsiteX4" fmla="*/ 5093304 w 5568114"/>
              <a:gd name="connsiteY4" fmla="*/ 806978 h 5577748"/>
              <a:gd name="connsiteX5" fmla="*/ 5496656 w 5568114"/>
              <a:gd name="connsiteY5" fmla="*/ 1495125 h 5577748"/>
              <a:gd name="connsiteX6" fmla="*/ 5568114 w 5568114"/>
              <a:gd name="connsiteY6" fmla="*/ 1692569 h 5577748"/>
              <a:gd name="connsiteX7" fmla="*/ 5568114 w 5568114"/>
              <a:gd name="connsiteY7" fmla="*/ 3665503 h 5577748"/>
              <a:gd name="connsiteX8" fmla="*/ 5466225 w 5568114"/>
              <a:gd name="connsiteY8" fmla="*/ 3819786 h 5577748"/>
              <a:gd name="connsiteX9" fmla="*/ 4579336 w 5568114"/>
              <a:gd name="connsiteY9" fmla="*/ 4635686 h 5577748"/>
              <a:gd name="connsiteX10" fmla="*/ 4384340 w 5568114"/>
              <a:gd name="connsiteY10" fmla="*/ 4791760 h 5577748"/>
              <a:gd name="connsiteX11" fmla="*/ 2782048 w 5568114"/>
              <a:gd name="connsiteY11" fmla="*/ 5577748 h 5577748"/>
              <a:gd name="connsiteX12" fmla="*/ 671354 w 5568114"/>
              <a:gd name="connsiteY12" fmla="*/ 4300148 h 5577748"/>
              <a:gd name="connsiteX13" fmla="*/ 446415 w 5568114"/>
              <a:gd name="connsiteY13" fmla="*/ 3973302 h 5577748"/>
              <a:gd name="connsiteX14" fmla="*/ 0 w 5568114"/>
              <a:gd name="connsiteY14" fmla="*/ 2943554 h 5577748"/>
              <a:gd name="connsiteX15" fmla="*/ 269730 w 5568114"/>
              <a:gd name="connsiteY15" fmla="*/ 1834555 h 5577748"/>
              <a:gd name="connsiteX16" fmla="*/ 1013589 w 5568114"/>
              <a:gd name="connsiteY16" fmla="*/ 881627 h 5577748"/>
              <a:gd name="connsiteX17" fmla="*/ 2089042 w 5568114"/>
              <a:gd name="connsiteY17" fmla="*/ 220777 h 5577748"/>
              <a:gd name="connsiteX18" fmla="*/ 2845684 w 5568114"/>
              <a:gd name="connsiteY18" fmla="*/ 14234 h 557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68114" h="5577748">
                <a:moveTo>
                  <a:pt x="2959946" y="0"/>
                </a:moveTo>
                <a:lnTo>
                  <a:pt x="3614224" y="0"/>
                </a:lnTo>
                <a:lnTo>
                  <a:pt x="3844432" y="36392"/>
                </a:lnTo>
                <a:cubicBezTo>
                  <a:pt x="4017699" y="73748"/>
                  <a:pt x="4182227" y="129639"/>
                  <a:pt x="4336826" y="203778"/>
                </a:cubicBezTo>
                <a:cubicBezTo>
                  <a:pt x="4626600" y="342850"/>
                  <a:pt x="4881111" y="545834"/>
                  <a:pt x="5093304" y="806978"/>
                </a:cubicBezTo>
                <a:cubicBezTo>
                  <a:pt x="5255931" y="1007198"/>
                  <a:pt x="5391154" y="1239036"/>
                  <a:pt x="5496656" y="1495125"/>
                </a:cubicBezTo>
                <a:lnTo>
                  <a:pt x="5568114" y="1692569"/>
                </a:lnTo>
                <a:lnTo>
                  <a:pt x="5568114" y="3665503"/>
                </a:lnTo>
                <a:lnTo>
                  <a:pt x="5466225" y="3819786"/>
                </a:lnTo>
                <a:cubicBezTo>
                  <a:pt x="5249576" y="4101511"/>
                  <a:pt x="4924044" y="4360994"/>
                  <a:pt x="4579336" y="4635686"/>
                </a:cubicBezTo>
                <a:cubicBezTo>
                  <a:pt x="4515738" y="4686305"/>
                  <a:pt x="4450038" y="4738713"/>
                  <a:pt x="4384340" y="4791760"/>
                </a:cubicBezTo>
                <a:cubicBezTo>
                  <a:pt x="3796254" y="5266498"/>
                  <a:pt x="3367038" y="5577748"/>
                  <a:pt x="2782048" y="5577748"/>
                </a:cubicBezTo>
                <a:cubicBezTo>
                  <a:pt x="1890703" y="5577748"/>
                  <a:pt x="1259439" y="5195682"/>
                  <a:pt x="671354" y="4300148"/>
                </a:cubicBezTo>
                <a:cubicBezTo>
                  <a:pt x="594395" y="4182934"/>
                  <a:pt x="519167" y="4076330"/>
                  <a:pt x="446415" y="3973302"/>
                </a:cubicBezTo>
                <a:cubicBezTo>
                  <a:pt x="144886" y="3546115"/>
                  <a:pt x="0" y="3323958"/>
                  <a:pt x="0" y="2943554"/>
                </a:cubicBezTo>
                <a:cubicBezTo>
                  <a:pt x="0" y="2565835"/>
                  <a:pt x="90816" y="2192716"/>
                  <a:pt x="269730" y="1834555"/>
                </a:cubicBezTo>
                <a:cubicBezTo>
                  <a:pt x="444806" y="1484188"/>
                  <a:pt x="695109" y="1163480"/>
                  <a:pt x="1013589" y="881627"/>
                </a:cubicBezTo>
                <a:cubicBezTo>
                  <a:pt x="1326624" y="604505"/>
                  <a:pt x="1698428" y="375956"/>
                  <a:pt x="2089042" y="220777"/>
                </a:cubicBezTo>
                <a:cubicBezTo>
                  <a:pt x="2339747" y="120996"/>
                  <a:pt x="2592918" y="51971"/>
                  <a:pt x="2845684" y="1423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2" name="Picture 1" descr="A child walking down a brick walkway with a backpack&#10;&#10;Description automatically generated">
            <a:extLst>
              <a:ext uri="{FF2B5EF4-FFF2-40B4-BE49-F238E27FC236}">
                <a16:creationId xmlns:a16="http://schemas.microsoft.com/office/drawing/2014/main" id="{3CF2F606-05D8-3F7B-8B2C-A0CB63D9CAAB}"/>
              </a:ext>
            </a:extLst>
          </p:cNvPr>
          <p:cNvPicPr>
            <a:picLocks noChangeAspect="1"/>
          </p:cNvPicPr>
          <p:nvPr/>
        </p:nvPicPr>
        <p:blipFill rotWithShape="1">
          <a:blip r:embed="rId2">
            <a:extLst>
              <a:ext uri="{28A0092B-C50C-407E-A947-70E740481C1C}">
                <a14:useLocalDpi xmlns:a14="http://schemas.microsoft.com/office/drawing/2010/main" val="0"/>
              </a:ext>
            </a:extLst>
          </a:blip>
          <a:srcRect l="8713" r="14303"/>
          <a:stretch/>
        </p:blipFill>
        <p:spPr>
          <a:xfrm>
            <a:off x="6877878" y="294199"/>
            <a:ext cx="5150794" cy="5001370"/>
          </a:xfrm>
          <a:custGeom>
            <a:avLst/>
            <a:gdLst/>
            <a:ahLst/>
            <a:cxnLst/>
            <a:rect l="l" t="t" r="r" b="b"/>
            <a:pathLst>
              <a:path w="5044104" h="4896924">
                <a:moveTo>
                  <a:pt x="2886613" y="0"/>
                </a:moveTo>
                <a:cubicBezTo>
                  <a:pt x="3218269" y="0"/>
                  <a:pt x="3523512" y="65865"/>
                  <a:pt x="3794011" y="195584"/>
                </a:cubicBezTo>
                <a:cubicBezTo>
                  <a:pt x="4047516" y="317247"/>
                  <a:pt x="4270172" y="494825"/>
                  <a:pt x="4455804" y="723284"/>
                </a:cubicBezTo>
                <a:cubicBezTo>
                  <a:pt x="4835198" y="1190375"/>
                  <a:pt x="5044104" y="1854168"/>
                  <a:pt x="5044104" y="2592438"/>
                </a:cubicBezTo>
                <a:cubicBezTo>
                  <a:pt x="5044104" y="2886985"/>
                  <a:pt x="4963247" y="3123382"/>
                  <a:pt x="4782050" y="3358996"/>
                </a:cubicBezTo>
                <a:cubicBezTo>
                  <a:pt x="4592516" y="3605460"/>
                  <a:pt x="4307730" y="3832465"/>
                  <a:pt x="4006167" y="4072775"/>
                </a:cubicBezTo>
                <a:cubicBezTo>
                  <a:pt x="3950530" y="4117058"/>
                  <a:pt x="3893052" y="4162907"/>
                  <a:pt x="3835576" y="4209314"/>
                </a:cubicBezTo>
                <a:cubicBezTo>
                  <a:pt x="3321099" y="4624632"/>
                  <a:pt x="2945605" y="4896924"/>
                  <a:pt x="2433835" y="4896924"/>
                </a:cubicBezTo>
                <a:cubicBezTo>
                  <a:pt x="1654054" y="4896924"/>
                  <a:pt x="1101803" y="4562680"/>
                  <a:pt x="587325" y="3779234"/>
                </a:cubicBezTo>
                <a:cubicBezTo>
                  <a:pt x="519999" y="3676690"/>
                  <a:pt x="454187" y="3583430"/>
                  <a:pt x="390540" y="3493298"/>
                </a:cubicBezTo>
                <a:cubicBezTo>
                  <a:pt x="126752" y="3119579"/>
                  <a:pt x="0" y="2925228"/>
                  <a:pt x="0" y="2592438"/>
                </a:cubicBezTo>
                <a:cubicBezTo>
                  <a:pt x="0" y="2261996"/>
                  <a:pt x="79450" y="1935577"/>
                  <a:pt x="235969" y="1622244"/>
                </a:cubicBezTo>
                <a:cubicBezTo>
                  <a:pt x="389133" y="1315731"/>
                  <a:pt x="608107" y="1035165"/>
                  <a:pt x="886724" y="788590"/>
                </a:cubicBezTo>
                <a:cubicBezTo>
                  <a:pt x="1160578" y="546153"/>
                  <a:pt x="1485846" y="346211"/>
                  <a:pt x="1827568" y="210454"/>
                </a:cubicBezTo>
                <a:cubicBezTo>
                  <a:pt x="2178491" y="70787"/>
                  <a:pt x="2534934" y="0"/>
                  <a:pt x="2886613" y="0"/>
                </a:cubicBezTo>
                <a:close/>
              </a:path>
            </a:pathLst>
          </a:custGeom>
        </p:spPr>
      </p:pic>
    </p:spTree>
    <p:extLst>
      <p:ext uri="{BB962C8B-B14F-4D97-AF65-F5344CB8AC3E}">
        <p14:creationId xmlns:p14="http://schemas.microsoft.com/office/powerpoint/2010/main" val="1234188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70BD44-BA2B-5FFC-2318-26730D84CBA1}"/>
              </a:ext>
            </a:extLst>
          </p:cNvPr>
          <p:cNvSpPr txBox="1"/>
          <p:nvPr/>
        </p:nvSpPr>
        <p:spPr>
          <a:xfrm>
            <a:off x="749030" y="1206230"/>
            <a:ext cx="11040893" cy="3631763"/>
          </a:xfrm>
          <a:prstGeom prst="rect">
            <a:avLst/>
          </a:prstGeom>
          <a:noFill/>
        </p:spPr>
        <p:txBody>
          <a:bodyPr wrap="square" rtlCol="0">
            <a:spAutoFit/>
          </a:bodyPr>
          <a:lstStyle/>
          <a:p>
            <a:r>
              <a:rPr lang="en-US" sz="3200" b="1" dirty="0"/>
              <a:t>How Many People Are Deaf?</a:t>
            </a:r>
          </a:p>
          <a:p>
            <a:endParaRPr lang="en-US" dirty="0"/>
          </a:p>
          <a:p>
            <a:r>
              <a:rPr lang="en-US" dirty="0"/>
              <a:t> About two to four of every 1,000 people in the U.S. are “functionally deaf,” with the majority of them aged 65 years or older. More than 70 million people worldwide are deaf, with more than 80% of them residing in developing countries.</a:t>
            </a:r>
          </a:p>
          <a:p>
            <a:endParaRPr lang="en-US" dirty="0"/>
          </a:p>
          <a:p>
            <a:r>
              <a:rPr lang="en-US" dirty="0"/>
              <a:t>According to the World Health Organization (WHO), more than 1.5 billion people, or nearly 20% of the global population, live with hearing loss, and 430 million of them have disabling hearing loss.</a:t>
            </a:r>
          </a:p>
          <a:p>
            <a:endParaRPr lang="en-US" dirty="0"/>
          </a:p>
          <a:p>
            <a:r>
              <a:rPr lang="en-US" dirty="0"/>
              <a:t> It is estimated that by 2050, over 700 million people, or 1 in every 10 people, will have disabling hearing loss</a:t>
            </a:r>
          </a:p>
        </p:txBody>
      </p:sp>
    </p:spTree>
    <p:extLst>
      <p:ext uri="{BB962C8B-B14F-4D97-AF65-F5344CB8AC3E}">
        <p14:creationId xmlns:p14="http://schemas.microsoft.com/office/powerpoint/2010/main" val="3490021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167F6F46-72C9-45A8-7695-5A6517B25A88}"/>
              </a:ext>
            </a:extLst>
          </p:cNvPr>
          <p:cNvGraphicFramePr/>
          <p:nvPr>
            <p:extLst>
              <p:ext uri="{D42A27DB-BD31-4B8C-83A1-F6EECF244321}">
                <p14:modId xmlns:p14="http://schemas.microsoft.com/office/powerpoint/2010/main" val="258096637"/>
              </p:ext>
            </p:extLst>
          </p:nvPr>
        </p:nvGraphicFramePr>
        <p:xfrm>
          <a:off x="1535837" y="835075"/>
          <a:ext cx="92456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58891A88-2608-721C-B951-A78F455A44C6}"/>
              </a:ext>
            </a:extLst>
          </p:cNvPr>
          <p:cNvSpPr txBox="1"/>
          <p:nvPr/>
        </p:nvSpPr>
        <p:spPr>
          <a:xfrm>
            <a:off x="262646" y="6022925"/>
            <a:ext cx="1896894" cy="1200329"/>
          </a:xfrm>
          <a:prstGeom prst="rect">
            <a:avLst/>
          </a:prstGeom>
          <a:noFill/>
        </p:spPr>
        <p:txBody>
          <a:bodyPr wrap="square" rtlCol="0">
            <a:spAutoFit/>
          </a:bodyPr>
          <a:lstStyle/>
          <a:p>
            <a:r>
              <a:rPr lang="en-US" sz="1200" dirty="0"/>
              <a:t>Source</a:t>
            </a:r>
          </a:p>
          <a:p>
            <a:r>
              <a:rPr lang="en-US" sz="1200" dirty="0">
                <a:solidFill>
                  <a:schemeClr val="tx1">
                    <a:lumMod val="50000"/>
                    <a:lumOff val="50000"/>
                  </a:schemeClr>
                </a:solidFill>
              </a:rPr>
              <a:t>WHO</a:t>
            </a:r>
          </a:p>
          <a:p>
            <a:r>
              <a:rPr lang="en-US" sz="1200" dirty="0">
                <a:solidFill>
                  <a:schemeClr val="tx1">
                    <a:lumMod val="50000"/>
                    <a:lumOff val="50000"/>
                  </a:schemeClr>
                </a:solidFill>
              </a:rPr>
              <a:t>© Statista2023</a:t>
            </a:r>
          </a:p>
          <a:p>
            <a:endParaRPr lang="en-US" dirty="0"/>
          </a:p>
          <a:p>
            <a:endParaRPr lang="en-US" dirty="0"/>
          </a:p>
        </p:txBody>
      </p:sp>
    </p:spTree>
    <p:extLst>
      <p:ext uri="{BB962C8B-B14F-4D97-AF65-F5344CB8AC3E}">
        <p14:creationId xmlns:p14="http://schemas.microsoft.com/office/powerpoint/2010/main" val="2803069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A5C381-223B-26CE-078E-28BCE949AC5D}"/>
              </a:ext>
            </a:extLst>
          </p:cNvPr>
          <p:cNvSpPr txBox="1"/>
          <p:nvPr/>
        </p:nvSpPr>
        <p:spPr>
          <a:xfrm>
            <a:off x="1027521" y="546755"/>
            <a:ext cx="4732255" cy="584775"/>
          </a:xfrm>
          <a:prstGeom prst="rect">
            <a:avLst/>
          </a:prstGeom>
          <a:noFill/>
        </p:spPr>
        <p:txBody>
          <a:bodyPr wrap="square" rtlCol="0">
            <a:spAutoFit/>
          </a:bodyPr>
          <a:lstStyle/>
          <a:p>
            <a:r>
              <a:rPr lang="en-US" sz="3200" b="1" dirty="0">
                <a:solidFill>
                  <a:schemeClr val="tx1">
                    <a:lumMod val="75000"/>
                    <a:lumOff val="25000"/>
                  </a:schemeClr>
                </a:solidFill>
                <a:latin typeface="+mj-lt"/>
              </a:rPr>
              <a:t>Solution Approach:</a:t>
            </a:r>
          </a:p>
        </p:txBody>
      </p:sp>
      <p:sp>
        <p:nvSpPr>
          <p:cNvPr id="3" name="TextBox 2">
            <a:extLst>
              <a:ext uri="{FF2B5EF4-FFF2-40B4-BE49-F238E27FC236}">
                <a16:creationId xmlns:a16="http://schemas.microsoft.com/office/drawing/2014/main" id="{03BC1731-0B50-20A1-AE34-CDC54B9E4155}"/>
              </a:ext>
            </a:extLst>
          </p:cNvPr>
          <p:cNvSpPr txBox="1"/>
          <p:nvPr/>
        </p:nvSpPr>
        <p:spPr>
          <a:xfrm>
            <a:off x="542441" y="1400787"/>
            <a:ext cx="10877831" cy="4524315"/>
          </a:xfrm>
          <a:prstGeom prst="rect">
            <a:avLst/>
          </a:prstGeom>
          <a:noFill/>
        </p:spPr>
        <p:txBody>
          <a:bodyPr wrap="square" rtlCol="0">
            <a:spAutoFit/>
          </a:bodyPr>
          <a:lstStyle/>
          <a:p>
            <a:r>
              <a:rPr lang="en-US" b="0" i="0" dirty="0">
                <a:solidFill>
                  <a:srgbClr val="1F1F1F"/>
                </a:solidFill>
                <a:effectLst/>
              </a:rPr>
              <a:t>Develop a mobile app that uses machine learning to translate speech to sign language and vice versa. The app should be easy to use for both deaf and hearing people,</a:t>
            </a:r>
          </a:p>
          <a:p>
            <a:endParaRPr lang="en-US" dirty="0">
              <a:solidFill>
                <a:srgbClr val="1F1F1F"/>
              </a:solidFill>
            </a:endParaRPr>
          </a:p>
          <a:p>
            <a:endParaRPr lang="en-US" dirty="0">
              <a:solidFill>
                <a:srgbClr val="1F1F1F"/>
              </a:solidFill>
            </a:endParaRPr>
          </a:p>
          <a:p>
            <a:pPr algn="l">
              <a:buFont typeface="+mj-lt"/>
              <a:buAutoNum type="arabicPeriod"/>
            </a:pPr>
            <a:r>
              <a:rPr lang="en-US" b="0" i="0" dirty="0">
                <a:solidFill>
                  <a:srgbClr val="1F1F1F"/>
                </a:solidFill>
                <a:effectLst/>
              </a:rPr>
              <a:t>Collect a large dataset of sign language videos and corresponding text transcripts.</a:t>
            </a:r>
          </a:p>
          <a:p>
            <a:pPr algn="l"/>
            <a:endParaRPr lang="en-US" b="0" i="0" dirty="0">
              <a:solidFill>
                <a:srgbClr val="1F1F1F"/>
              </a:solidFill>
              <a:effectLst/>
            </a:endParaRPr>
          </a:p>
          <a:p>
            <a:pPr algn="l"/>
            <a:r>
              <a:rPr lang="ar-EG" b="0" i="0" dirty="0">
                <a:solidFill>
                  <a:srgbClr val="1F1F1F"/>
                </a:solidFill>
                <a:effectLst/>
              </a:rPr>
              <a:t>2</a:t>
            </a:r>
            <a:r>
              <a:rPr lang="en-US" b="0" i="0" dirty="0">
                <a:solidFill>
                  <a:srgbClr val="1F1F1F"/>
                </a:solidFill>
                <a:effectLst/>
              </a:rPr>
              <a:t>.Use the dataset to train a machine learning model to recognize and translate sign language.</a:t>
            </a:r>
          </a:p>
          <a:p>
            <a:pPr algn="l">
              <a:buFont typeface="+mj-lt"/>
              <a:buAutoNum type="arabicPeriod"/>
            </a:pPr>
            <a:endParaRPr lang="en-US" b="0" i="0" dirty="0">
              <a:solidFill>
                <a:srgbClr val="1F1F1F"/>
              </a:solidFill>
              <a:effectLst/>
            </a:endParaRPr>
          </a:p>
          <a:p>
            <a:pPr algn="l"/>
            <a:r>
              <a:rPr lang="en-US" b="0" i="0" dirty="0">
                <a:solidFill>
                  <a:srgbClr val="1F1F1F"/>
                </a:solidFill>
                <a:effectLst/>
              </a:rPr>
              <a:t>3.Develop a mobile app with a user interface that is easy to use for both deaf and hearing people.</a:t>
            </a:r>
          </a:p>
          <a:p>
            <a:pPr algn="l">
              <a:buFont typeface="+mj-lt"/>
              <a:buAutoNum type="arabicPeriod"/>
            </a:pPr>
            <a:endParaRPr lang="en-US" b="0" i="0" dirty="0">
              <a:solidFill>
                <a:srgbClr val="1F1F1F"/>
              </a:solidFill>
              <a:effectLst/>
            </a:endParaRPr>
          </a:p>
          <a:p>
            <a:pPr algn="l"/>
            <a:r>
              <a:rPr lang="en-US" b="0" i="0" dirty="0">
                <a:solidFill>
                  <a:srgbClr val="1F1F1F"/>
                </a:solidFill>
                <a:effectLst/>
              </a:rPr>
              <a:t>4.Integrate the machine learning model into the app so that it can translate speech to sign language and vice versa in real time.</a:t>
            </a:r>
          </a:p>
          <a:p>
            <a:pPr algn="l">
              <a:buFont typeface="+mj-lt"/>
              <a:buAutoNum type="arabicPeriod"/>
            </a:pPr>
            <a:endParaRPr lang="en-US" b="0" i="0" dirty="0">
              <a:solidFill>
                <a:srgbClr val="1F1F1F"/>
              </a:solidFill>
              <a:effectLst/>
            </a:endParaRPr>
          </a:p>
          <a:p>
            <a:pPr algn="l"/>
            <a:r>
              <a:rPr lang="en-US" b="0" i="0" dirty="0">
                <a:solidFill>
                  <a:srgbClr val="1F1F1F"/>
                </a:solidFill>
                <a:effectLst/>
              </a:rPr>
              <a:t>5.Test the app with deaf users to ensure that it is accurate and user-friendly.</a:t>
            </a:r>
          </a:p>
          <a:p>
            <a:endParaRPr lang="en-US" dirty="0"/>
          </a:p>
        </p:txBody>
      </p:sp>
    </p:spTree>
    <p:extLst>
      <p:ext uri="{BB962C8B-B14F-4D97-AF65-F5344CB8AC3E}">
        <p14:creationId xmlns:p14="http://schemas.microsoft.com/office/powerpoint/2010/main" val="3804842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30127AE-B29E-4FDF-99D2-A2F1E7003F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7" name="Group 16">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8" name="Freeform: Shape 17">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9">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5" name="TextBox 4">
            <a:extLst>
              <a:ext uri="{FF2B5EF4-FFF2-40B4-BE49-F238E27FC236}">
                <a16:creationId xmlns:a16="http://schemas.microsoft.com/office/drawing/2014/main" id="{CB4B2DBF-1D8A-0BE0-B378-3CE1F94A3D18}"/>
              </a:ext>
            </a:extLst>
          </p:cNvPr>
          <p:cNvSpPr txBox="1"/>
          <p:nvPr/>
        </p:nvSpPr>
        <p:spPr>
          <a:xfrm>
            <a:off x="548702" y="243270"/>
            <a:ext cx="6857365" cy="1344612"/>
          </a:xfrm>
          <a:prstGeom prst="rect">
            <a:avLst/>
          </a:prstGeom>
        </p:spPr>
        <p:txBody>
          <a:bodyPr vert="horz" lIns="109728" tIns="109728" rIns="109728" bIns="91440" rtlCol="0" anchor="b">
            <a:normAutofit/>
          </a:bodyPr>
          <a:lstStyle/>
          <a:p>
            <a:pPr defTabSz="914400">
              <a:lnSpc>
                <a:spcPct val="130000"/>
              </a:lnSpc>
              <a:spcBef>
                <a:spcPct val="0"/>
              </a:spcBef>
              <a:spcAft>
                <a:spcPts val="600"/>
              </a:spcAft>
            </a:pPr>
            <a:r>
              <a:rPr lang="en-US" sz="3200" b="1" spc="150" dirty="0">
                <a:solidFill>
                  <a:schemeClr val="tx1">
                    <a:lumMod val="75000"/>
                    <a:lumOff val="25000"/>
                  </a:schemeClr>
                </a:solidFill>
                <a:latin typeface="+mj-lt"/>
                <a:ea typeface="+mj-ea"/>
                <a:cs typeface="+mj-cs"/>
              </a:rPr>
              <a:t>Objective:</a:t>
            </a:r>
          </a:p>
          <a:p>
            <a:pPr defTabSz="914400">
              <a:lnSpc>
                <a:spcPct val="130000"/>
              </a:lnSpc>
              <a:spcBef>
                <a:spcPct val="0"/>
              </a:spcBef>
              <a:spcAft>
                <a:spcPts val="600"/>
              </a:spcAft>
            </a:pPr>
            <a:endParaRPr lang="en-US" sz="3200" b="1" spc="150" dirty="0">
              <a:solidFill>
                <a:schemeClr val="tx1">
                  <a:lumMod val="75000"/>
                  <a:lumOff val="25000"/>
                </a:schemeClr>
              </a:solidFill>
              <a:latin typeface="+mj-lt"/>
              <a:ea typeface="+mj-ea"/>
              <a:cs typeface="+mj-cs"/>
            </a:endParaRPr>
          </a:p>
        </p:txBody>
      </p:sp>
      <p:sp>
        <p:nvSpPr>
          <p:cNvPr id="12" name="TextBox 11">
            <a:extLst>
              <a:ext uri="{FF2B5EF4-FFF2-40B4-BE49-F238E27FC236}">
                <a16:creationId xmlns:a16="http://schemas.microsoft.com/office/drawing/2014/main" id="{F28CAAD6-AA0C-D426-65B2-2DC4093FD525}"/>
              </a:ext>
            </a:extLst>
          </p:cNvPr>
          <p:cNvSpPr txBox="1"/>
          <p:nvPr/>
        </p:nvSpPr>
        <p:spPr>
          <a:xfrm>
            <a:off x="1436440" y="999754"/>
            <a:ext cx="6857365" cy="3651250"/>
          </a:xfrm>
          <a:prstGeom prst="rect">
            <a:avLst/>
          </a:prstGeom>
        </p:spPr>
        <p:txBody>
          <a:bodyPr vert="horz" lIns="109728" tIns="109728" rIns="109728" bIns="91440" rtlCol="0">
            <a:noAutofit/>
          </a:bodyPr>
          <a:lstStyle/>
          <a:p>
            <a:pPr defTabSz="914400">
              <a:lnSpc>
                <a:spcPct val="130000"/>
              </a:lnSpc>
              <a:spcBef>
                <a:spcPts val="930"/>
              </a:spcBef>
              <a:buFont typeface="Corbel" panose="020B0503020204020204" pitchFamily="34" charset="0"/>
            </a:pPr>
            <a:r>
              <a:rPr lang="en-US" b="0" i="0" spc="150" dirty="0">
                <a:solidFill>
                  <a:schemeClr val="tx1">
                    <a:lumMod val="75000"/>
                    <a:lumOff val="25000"/>
                  </a:schemeClr>
                </a:solidFill>
                <a:effectLst/>
              </a:rPr>
              <a:t>This objective is comprehensive and addresses the key challenges faced by deaf people in education, and it has the potential to make a real difference in the lives of deaf people,</a:t>
            </a:r>
          </a:p>
          <a:p>
            <a:pPr defTabSz="914400">
              <a:lnSpc>
                <a:spcPct val="130000"/>
              </a:lnSpc>
              <a:spcBef>
                <a:spcPts val="930"/>
              </a:spcBef>
              <a:buFont typeface="Corbel" panose="020B0503020204020204" pitchFamily="34" charset="0"/>
            </a:pPr>
            <a:endParaRPr lang="en-US" spc="150" dirty="0">
              <a:solidFill>
                <a:schemeClr val="tx1">
                  <a:lumMod val="75000"/>
                  <a:lumOff val="25000"/>
                </a:schemeClr>
              </a:solidFill>
            </a:endParaRPr>
          </a:p>
          <a:p>
            <a:pPr defTabSz="914400">
              <a:lnSpc>
                <a:spcPct val="130000"/>
              </a:lnSpc>
              <a:spcBef>
                <a:spcPts val="930"/>
              </a:spcBef>
              <a:buFont typeface="Corbel" panose="020B0503020204020204" pitchFamily="34" charset="0"/>
            </a:pPr>
            <a:r>
              <a:rPr lang="en-US" spc="150" dirty="0">
                <a:solidFill>
                  <a:schemeClr val="tx1">
                    <a:lumMod val="75000"/>
                    <a:lumOff val="25000"/>
                  </a:schemeClr>
                </a:solidFill>
              </a:rPr>
              <a:t>Provide deaf students with a platform to connect with each other and with hearing students, so that they can build a supportive community and learn from each other,</a:t>
            </a:r>
          </a:p>
          <a:p>
            <a:pPr defTabSz="914400">
              <a:lnSpc>
                <a:spcPct val="130000"/>
              </a:lnSpc>
              <a:spcBef>
                <a:spcPts val="930"/>
              </a:spcBef>
              <a:buFont typeface="Corbel" panose="020B0503020204020204" pitchFamily="34" charset="0"/>
            </a:pPr>
            <a:endParaRPr lang="en-US" spc="150" dirty="0">
              <a:solidFill>
                <a:schemeClr val="tx1">
                  <a:lumMod val="75000"/>
                  <a:lumOff val="25000"/>
                </a:schemeClr>
              </a:solidFill>
            </a:endParaRPr>
          </a:p>
          <a:p>
            <a:pPr defTabSz="914400">
              <a:lnSpc>
                <a:spcPct val="130000"/>
              </a:lnSpc>
              <a:spcBef>
                <a:spcPts val="930"/>
              </a:spcBef>
              <a:buFont typeface="Corbel" panose="020B0503020204020204" pitchFamily="34" charset="0"/>
            </a:pPr>
            <a:r>
              <a:rPr lang="en-US" spc="150" dirty="0">
                <a:solidFill>
                  <a:schemeClr val="tx1">
                    <a:lumMod val="75000"/>
                    <a:lumOff val="25000"/>
                  </a:schemeClr>
                </a:solidFill>
              </a:rPr>
              <a:t>Provide real-time translation of spoken language into sign language and vice versa, so that deaf students can fully participate in class discussions and activities.</a:t>
            </a:r>
          </a:p>
        </p:txBody>
      </p:sp>
    </p:spTree>
    <p:extLst>
      <p:ext uri="{BB962C8B-B14F-4D97-AF65-F5344CB8AC3E}">
        <p14:creationId xmlns:p14="http://schemas.microsoft.com/office/powerpoint/2010/main" val="3731913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C18A85-1FB6-B396-6A75-55AC4D64C0BF}"/>
              </a:ext>
            </a:extLst>
          </p:cNvPr>
          <p:cNvSpPr txBox="1"/>
          <p:nvPr/>
        </p:nvSpPr>
        <p:spPr>
          <a:xfrm>
            <a:off x="548702" y="243270"/>
            <a:ext cx="6857365" cy="1344612"/>
          </a:xfrm>
          <a:prstGeom prst="rect">
            <a:avLst/>
          </a:prstGeom>
        </p:spPr>
        <p:txBody>
          <a:bodyPr vert="horz" lIns="109728" tIns="109728" rIns="109728" bIns="91440" rtlCol="0" anchor="b">
            <a:normAutofit/>
          </a:bodyPr>
          <a:lstStyle/>
          <a:p>
            <a:pPr defTabSz="914400">
              <a:lnSpc>
                <a:spcPct val="130000"/>
              </a:lnSpc>
              <a:spcBef>
                <a:spcPct val="0"/>
              </a:spcBef>
              <a:spcAft>
                <a:spcPts val="600"/>
              </a:spcAft>
            </a:pPr>
            <a:r>
              <a:rPr lang="en-US" sz="3200" b="1" spc="150" dirty="0">
                <a:solidFill>
                  <a:schemeClr val="tx1">
                    <a:lumMod val="75000"/>
                    <a:lumOff val="25000"/>
                  </a:schemeClr>
                </a:solidFill>
                <a:latin typeface="+mj-lt"/>
                <a:ea typeface="+mj-ea"/>
                <a:cs typeface="+mj-cs"/>
              </a:rPr>
              <a:t>Plan:</a:t>
            </a:r>
          </a:p>
          <a:p>
            <a:pPr defTabSz="914400">
              <a:lnSpc>
                <a:spcPct val="130000"/>
              </a:lnSpc>
              <a:spcBef>
                <a:spcPct val="0"/>
              </a:spcBef>
              <a:spcAft>
                <a:spcPts val="600"/>
              </a:spcAft>
            </a:pPr>
            <a:endParaRPr lang="en-US" sz="3200" b="1" spc="150" dirty="0">
              <a:solidFill>
                <a:schemeClr val="tx1">
                  <a:lumMod val="75000"/>
                  <a:lumOff val="25000"/>
                </a:schemeClr>
              </a:solidFill>
              <a:latin typeface="+mj-lt"/>
              <a:ea typeface="+mj-ea"/>
              <a:cs typeface="+mj-cs"/>
            </a:endParaRPr>
          </a:p>
        </p:txBody>
      </p:sp>
    </p:spTree>
    <p:extLst>
      <p:ext uri="{BB962C8B-B14F-4D97-AF65-F5344CB8AC3E}">
        <p14:creationId xmlns:p14="http://schemas.microsoft.com/office/powerpoint/2010/main" val="3520568798"/>
      </p:ext>
    </p:extLst>
  </p:cSld>
  <p:clrMapOvr>
    <a:masterClrMapping/>
  </p:clrMapOvr>
</p:sld>
</file>

<file path=ppt/theme/theme1.xml><?xml version="1.0" encoding="utf-8"?>
<a:theme xmlns:a="http://schemas.openxmlformats.org/drawingml/2006/main" name="SketchLinesVTI">
  <a:themeElements>
    <a:clrScheme name="AnalogousFromLightSeedLeftStep">
      <a:dk1>
        <a:srgbClr val="000000"/>
      </a:dk1>
      <a:lt1>
        <a:srgbClr val="FFFFFF"/>
      </a:lt1>
      <a:dk2>
        <a:srgbClr val="24393F"/>
      </a:dk2>
      <a:lt2>
        <a:srgbClr val="E8E8E2"/>
      </a:lt2>
      <a:accent1>
        <a:srgbClr val="8885D7"/>
      </a:accent1>
      <a:accent2>
        <a:srgbClr val="6A90CE"/>
      </a:accent2>
      <a:accent3>
        <a:srgbClr val="5AAEC3"/>
      </a:accent3>
      <a:accent4>
        <a:srgbClr val="5DB4A2"/>
      </a:accent4>
      <a:accent5>
        <a:srgbClr val="68B484"/>
      </a:accent5>
      <a:accent6>
        <a:srgbClr val="62B65E"/>
      </a:accent6>
      <a:hlink>
        <a:srgbClr val="848651"/>
      </a:hlink>
      <a:folHlink>
        <a:srgbClr val="7F7F7F"/>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Props/app.xml><?xml version="1.0" encoding="utf-8"?>
<Properties xmlns="http://schemas.openxmlformats.org/officeDocument/2006/extended-properties" xmlns:vt="http://schemas.openxmlformats.org/officeDocument/2006/docPropsVTypes">
  <Template>Integral</Template>
  <TotalTime>762</TotalTime>
  <Words>540</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Meiryo</vt:lpstr>
      <vt:lpstr>Corbel</vt:lpstr>
      <vt:lpstr>SketchLinesVTI</vt:lpstr>
      <vt:lpstr>Unheard Voices App</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Unheard Voices App</dc:title>
  <dc:creator>osama gamal</dc:creator>
  <cp:lastModifiedBy>osama gamal</cp:lastModifiedBy>
  <cp:revision>3</cp:revision>
  <dcterms:created xsi:type="dcterms:W3CDTF">2023-10-13T08:10:31Z</dcterms:created>
  <dcterms:modified xsi:type="dcterms:W3CDTF">2023-10-14T14:24:05Z</dcterms:modified>
</cp:coreProperties>
</file>