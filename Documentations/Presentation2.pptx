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A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2241623-A064-4BED-B073-BA4D6143340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56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857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B70D-CD01-44DA-83B3-8FEB3383D307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32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59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49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71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99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D0D6-7A82-473E-879B-C6ECD6CCCFEC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8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5E03-BC17-41A7-854C-DFAB672737DC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6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7263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3524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50206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325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0499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28088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7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02AB-6034-4B88-BC5A-7C17CB0EF809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86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527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16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="" xmlns:a16="http://schemas.microsoft.com/office/drawing/2014/main" id="{0DBF1ABE-8590-450D-BB49-BDDCCF3EEA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FA16AE-43EF-87C3-852F-FACA4B854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846" y="2455816"/>
            <a:ext cx="5686697" cy="859459"/>
          </a:xfrm>
        </p:spPr>
        <p:txBody>
          <a:bodyPr anchor="b">
            <a:no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Unheard Voices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38574D8-BBAE-FE7D-6B03-50A0E3486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23" y="3488436"/>
            <a:ext cx="5016138" cy="447838"/>
          </a:xfrm>
        </p:spPr>
        <p:txBody>
          <a:bodyPr anchor="t">
            <a:noAutofit/>
          </a:bodyPr>
          <a:lstStyle/>
          <a:p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Communicate with the world without barriers</a:t>
            </a:r>
            <a:r>
              <a:rPr lang="en-US" sz="1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  <a:r>
              <a:rPr lang="en-US" sz="1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  <a:endParaRPr lang="en-US" sz="14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="" xmlns:a16="http://schemas.microsoft.com/office/drawing/2014/main" id="{C7D887A3-61AD-4674-BC53-8DFA8CF7B4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084611" y="0"/>
            <a:ext cx="5107387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1" name="Picture 30" descr="A person giving a thumbs up sign to another person&#10;&#10;Description automatically generated">
            <a:extLst>
              <a:ext uri="{FF2B5EF4-FFF2-40B4-BE49-F238E27FC236}">
                <a16:creationId xmlns="" xmlns:a16="http://schemas.microsoft.com/office/drawing/2014/main" id="{A520EB31-EE2F-CFA9-6FDA-B68BB01581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17" b="-1"/>
          <a:stretch/>
        </p:blipFill>
        <p:spPr>
          <a:xfrm>
            <a:off x="7293798" y="10"/>
            <a:ext cx="4898203" cy="3488426"/>
          </a:xfrm>
          <a:custGeom>
            <a:avLst/>
            <a:gdLst/>
            <a:ahLst/>
            <a:cxnLst/>
            <a:rect l="l" t="t" r="r" b="b"/>
            <a:pathLst>
              <a:path w="4898203" h="3470148">
                <a:moveTo>
                  <a:pt x="1619455" y="0"/>
                </a:moveTo>
                <a:lnTo>
                  <a:pt x="2712688" y="0"/>
                </a:lnTo>
                <a:lnTo>
                  <a:pt x="3492854" y="0"/>
                </a:lnTo>
                <a:lnTo>
                  <a:pt x="4540916" y="0"/>
                </a:lnTo>
                <a:lnTo>
                  <a:pt x="4707219" y="0"/>
                </a:lnTo>
                <a:lnTo>
                  <a:pt x="4898203" y="0"/>
                </a:lnTo>
                <a:lnTo>
                  <a:pt x="4898203" y="3470148"/>
                </a:lnTo>
                <a:lnTo>
                  <a:pt x="0" y="3470148"/>
                </a:lnTo>
                <a:lnTo>
                  <a:pt x="3126" y="3337395"/>
                </a:lnTo>
                <a:cubicBezTo>
                  <a:pt x="69921" y="1928213"/>
                  <a:pt x="634366" y="708413"/>
                  <a:pt x="1597331" y="14997"/>
                </a:cubicBezTo>
                <a:close/>
              </a:path>
            </a:pathLst>
          </a:custGeom>
        </p:spPr>
      </p:pic>
      <p:sp>
        <p:nvSpPr>
          <p:cNvPr id="49" name="Freeform: Shape 48">
            <a:extLst>
              <a:ext uri="{FF2B5EF4-FFF2-40B4-BE49-F238E27FC236}">
                <a16:creationId xmlns="" xmlns:a16="http://schemas.microsoft.com/office/drawing/2014/main" id="{479F0FB3-8461-462D-84A2-53106FBF4E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58528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="" xmlns:a16="http://schemas.microsoft.com/office/drawing/2014/main" id="{11E3C311-4E8A-45D9-97BF-07F5FD3469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798579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7" name="Picture 26" descr="A person giving thumbs up while sitting at a table&#10;&#10;Description automatically generated">
            <a:extLst>
              <a:ext uri="{FF2B5EF4-FFF2-40B4-BE49-F238E27FC236}">
                <a16:creationId xmlns="" xmlns:a16="http://schemas.microsoft.com/office/drawing/2014/main" id="{FC5446EF-D1C9-7E64-9750-8098DC4BEE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3" b="1"/>
          <a:stretch/>
        </p:blipFill>
        <p:spPr>
          <a:xfrm>
            <a:off x="7290230" y="3534156"/>
            <a:ext cx="4901771" cy="3323844"/>
          </a:xfrm>
          <a:custGeom>
            <a:avLst/>
            <a:gdLst/>
            <a:ahLst/>
            <a:cxnLst/>
            <a:rect l="l" t="t" r="r" b="b"/>
            <a:pathLst>
              <a:path w="4901771" h="3305556">
                <a:moveTo>
                  <a:pt x="1630" y="0"/>
                </a:moveTo>
                <a:lnTo>
                  <a:pt x="4901771" y="0"/>
                </a:lnTo>
                <a:lnTo>
                  <a:pt x="4901771" y="3305556"/>
                </a:lnTo>
                <a:lnTo>
                  <a:pt x="4710787" y="3305556"/>
                </a:lnTo>
                <a:lnTo>
                  <a:pt x="4544484" y="3305556"/>
                </a:lnTo>
                <a:lnTo>
                  <a:pt x="3496422" y="3305556"/>
                </a:lnTo>
                <a:lnTo>
                  <a:pt x="2716256" y="3305556"/>
                </a:lnTo>
                <a:lnTo>
                  <a:pt x="2502754" y="3305556"/>
                </a:lnTo>
                <a:lnTo>
                  <a:pt x="2390998" y="3228155"/>
                </a:lnTo>
                <a:cubicBezTo>
                  <a:pt x="2217180" y="3100664"/>
                  <a:pt x="2046553" y="2962953"/>
                  <a:pt x="1874350" y="2822370"/>
                </a:cubicBezTo>
                <a:cubicBezTo>
                  <a:pt x="928725" y="2050395"/>
                  <a:pt x="0" y="1416687"/>
                  <a:pt x="0" y="69212"/>
                </a:cubicBezTo>
                <a:close/>
              </a:path>
            </a:pathLst>
          </a:custGeom>
        </p:spPr>
      </p:pic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88BF661D-A884-5002-5315-74E7107C07A8}"/>
              </a:ext>
            </a:extLst>
          </p:cNvPr>
          <p:cNvSpPr txBox="1"/>
          <p:nvPr/>
        </p:nvSpPr>
        <p:spPr>
          <a:xfrm>
            <a:off x="475742" y="6280695"/>
            <a:ext cx="1964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Nora </a:t>
            </a:r>
            <a:r>
              <a:rPr lang="en-US" sz="20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Niazy</a:t>
            </a:r>
            <a:endParaRPr lang="en-US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2613B3-66C7-A67B-594F-EA2068E4C0D1}"/>
              </a:ext>
            </a:extLst>
          </p:cNvPr>
          <p:cNvSpPr txBox="1"/>
          <p:nvPr/>
        </p:nvSpPr>
        <p:spPr>
          <a:xfrm>
            <a:off x="4881154" y="6280695"/>
            <a:ext cx="2516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Eng. Ahmed Fouad </a:t>
            </a:r>
          </a:p>
        </p:txBody>
      </p:sp>
    </p:spTree>
    <p:extLst>
      <p:ext uri="{BB962C8B-B14F-4D97-AF65-F5344CB8AC3E}">
        <p14:creationId xmlns:p14="http://schemas.microsoft.com/office/powerpoint/2010/main" val="216898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566" y="801189"/>
            <a:ext cx="5934508" cy="818606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Overview </a:t>
            </a:r>
            <a:r>
              <a:rPr lang="en-US" sz="2800" dirty="0"/>
              <a:t>of </a:t>
            </a:r>
            <a:r>
              <a:rPr lang="en-US" sz="2800" dirty="0" smtClean="0"/>
              <a:t>project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9565" y="1584960"/>
            <a:ext cx="6723017" cy="475488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Deaf and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dumb</a:t>
            </a:r>
            <a:r>
              <a:rPr lang="ar-E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people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face different problems in dealing with ordinary people and their lives in general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ar-E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problems include the following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ar-E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Difficulty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communication: Communication between humans depends mainly on speech and sound, and since deaf and dumb people cannot hear, they depend on other means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ar-E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such as sign language or writing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ar-E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Discrimination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Deaf and dumb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people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may be subject to discrimination by ordinary people, and may have difficulty obtaining employment, education, entertainment, and health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care</a:t>
            </a:r>
            <a:r>
              <a:rPr lang="ar-E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opportunities.</a:t>
            </a:r>
            <a:endParaRPr lang="ar-E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Lack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understanding: Lay people may not understand the needs of deaf and dumb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may behave in an insensitive or hurtful way.</a:t>
            </a:r>
            <a:endParaRPr lang="ar-EG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Placeholder 12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1" r="15121"/>
          <a:stretch>
            <a:fillRect/>
          </a:stretch>
        </p:blipFill>
        <p:spPr>
          <a:xfrm>
            <a:off x="7907383" y="975361"/>
            <a:ext cx="3549333" cy="48332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6759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5028" y="714102"/>
            <a:ext cx="6030893" cy="51816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Below are some specific examples of problems that deaf and mute people may face in public colleges and universities in Egypt: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Deaf and dumb</a:t>
            </a:r>
            <a:r>
              <a:rPr lang="en-US" dirty="0"/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students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may have difficulty following speech-based lectures.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Deaf and dumb</a:t>
            </a:r>
            <a:r>
              <a:rPr lang="en-US" dirty="0"/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students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may not be able to communicate with professors and other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Deaf and dumb</a:t>
            </a:r>
            <a:r>
              <a:rPr lang="en-US" dirty="0"/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students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may have difficulty participating in extracurricular activities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ar-EG" dirty="0">
                <a:latin typeface="Arial" panose="020B0604020202020204" pitchFamily="34" charset="0"/>
              </a:rPr>
              <a:t>الكليات المتاحة للطلاب الصم والبكم فى مصر هى كلية التربية النوعية وكلية الاقتصاد المنزلى فقط، وذلك وفقاً للمادة الثانية عشر بالقرار الوزاری رقم ٢٥٥٥ لسنة ۲٠٢٠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Placeholder 11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" r="3727"/>
          <a:stretch>
            <a:fillRect/>
          </a:stretch>
        </p:blipFill>
        <p:spPr>
          <a:xfrm>
            <a:off x="7471955" y="714102"/>
            <a:ext cx="3871550" cy="5181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3566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614" y="609601"/>
            <a:ext cx="6048310" cy="120178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problem does the graduation project solve?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7615" y="1680755"/>
            <a:ext cx="6048310" cy="4110446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an app that helps and facilitates communication between deaf and dumb people and normal people throughout the day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also aims to help deaf and dumb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people in education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works by converting speech to sign language and vice versa, and will have a special section for learning sign language for those who are not proficient in sign language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goal of this application is to help deaf and dumb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people realize their dreams and gain equality with natural persons.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436" r="8436"/>
          <a:stretch>
            <a:fillRect/>
          </a:stretch>
        </p:blipFill>
        <p:spPr>
          <a:xfrm>
            <a:off x="7323909" y="531223"/>
            <a:ext cx="4153988" cy="5181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3928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8054838" cy="714103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are the tools used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implement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project?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1515291"/>
            <a:ext cx="5934511" cy="3405051"/>
          </a:xfrm>
        </p:spPr>
        <p:txBody>
          <a:bodyPr/>
          <a:lstStyle/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Mobile Application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Web Application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</a:p>
          <a:p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0" y="3985503"/>
            <a:ext cx="1591490" cy="15914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19" y="4271595"/>
            <a:ext cx="1310847" cy="130539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87" y="4496072"/>
            <a:ext cx="2786745" cy="84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3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7" y="729683"/>
            <a:ext cx="10458994" cy="5375026"/>
          </a:xfrm>
        </p:spPr>
      </p:pic>
    </p:spTree>
    <p:extLst>
      <p:ext uri="{BB962C8B-B14F-4D97-AF65-F5344CB8AC3E}">
        <p14:creationId xmlns:p14="http://schemas.microsoft.com/office/powerpoint/2010/main" val="195366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02" y="775064"/>
            <a:ext cx="10345783" cy="5286102"/>
          </a:xfrm>
        </p:spPr>
      </p:pic>
    </p:spTree>
    <p:extLst>
      <p:ext uri="{BB962C8B-B14F-4D97-AF65-F5344CB8AC3E}">
        <p14:creationId xmlns:p14="http://schemas.microsoft.com/office/powerpoint/2010/main" val="398925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" y="705394"/>
            <a:ext cx="10528663" cy="5399315"/>
          </a:xfrm>
        </p:spPr>
      </p:pic>
    </p:spTree>
    <p:extLst>
      <p:ext uri="{BB962C8B-B14F-4D97-AF65-F5344CB8AC3E}">
        <p14:creationId xmlns:p14="http://schemas.microsoft.com/office/powerpoint/2010/main" val="200248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62" y="827292"/>
            <a:ext cx="4572000" cy="2533650"/>
          </a:xfr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988" y="827292"/>
            <a:ext cx="4572000" cy="25527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62" y="3676650"/>
            <a:ext cx="4572000" cy="2552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988" y="3676650"/>
            <a:ext cx="45720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6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ASL Model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Recurrent </a:t>
            </a:r>
            <a:r>
              <a:rPr lang="en-US" sz="2800" dirty="0"/>
              <a:t>Neural Networks (RNNs) are a class of neural networks designed to work with sequential data. </a:t>
            </a:r>
            <a:endParaRPr lang="en-US" sz="2800" dirty="0" smtClean="0"/>
          </a:p>
          <a:p>
            <a:r>
              <a:rPr lang="en-US" sz="2800" dirty="0"/>
              <a:t>Here are some examples of sequential data</a:t>
            </a:r>
            <a:r>
              <a:rPr lang="en-US" sz="2800" dirty="0" smtClean="0"/>
              <a:t>:</a:t>
            </a:r>
          </a:p>
          <a:p>
            <a:pPr lvl="1"/>
            <a:r>
              <a:rPr lang="en-US" sz="2800" b="1" dirty="0"/>
              <a:t>Video Data</a:t>
            </a:r>
            <a:r>
              <a:rPr lang="en-US" sz="2800" dirty="0"/>
              <a:t>:</a:t>
            </a:r>
          </a:p>
          <a:p>
            <a:pPr lvl="2"/>
            <a:r>
              <a:rPr lang="en-US" sz="2800" dirty="0"/>
              <a:t>Frames in a video sequence.</a:t>
            </a:r>
          </a:p>
          <a:p>
            <a:pPr lvl="2"/>
            <a:r>
              <a:rPr lang="en-US" sz="2800" dirty="0"/>
              <a:t>Motion capture data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61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444137"/>
            <a:ext cx="9905999" cy="585216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LSTM stands for Long Short-Term Memory, and it is a type of recurrent neural network (RNN) architecture.</a:t>
            </a:r>
          </a:p>
          <a:p>
            <a:r>
              <a:rPr lang="en-US" sz="3200" dirty="0"/>
              <a:t>LSTM networks contain special units called memory cells, which can store information for long durations of time. Making them well-suited for learning </a:t>
            </a:r>
            <a:r>
              <a:rPr lang="en-US" sz="3200" dirty="0" smtClean="0"/>
              <a:t>from sequences of data.</a:t>
            </a:r>
          </a:p>
          <a:p>
            <a:r>
              <a:rPr lang="en-US" sz="3200" dirty="0"/>
              <a:t>Applications of LSTM networks include:</a:t>
            </a:r>
          </a:p>
          <a:p>
            <a:pPr lvl="1"/>
            <a:r>
              <a:rPr lang="en-US" sz="2800" dirty="0" smtClean="0"/>
              <a:t>Time </a:t>
            </a:r>
            <a:r>
              <a:rPr lang="en-US" sz="2800" dirty="0"/>
              <a:t>series prediction and forecasting tasks like stock price prediction and weather forecasting.</a:t>
            </a:r>
          </a:p>
          <a:p>
            <a:pPr lvl="1"/>
            <a:r>
              <a:rPr lang="en-US" sz="2800" dirty="0"/>
              <a:t>Speech recognition and synthesis.</a:t>
            </a:r>
          </a:p>
          <a:p>
            <a:pPr lvl="1"/>
            <a:r>
              <a:rPr lang="en-US" sz="2800" dirty="0"/>
              <a:t>Handwriting recognition.</a:t>
            </a:r>
          </a:p>
          <a:p>
            <a:pPr lvl="1"/>
            <a:r>
              <a:rPr lang="en-US" sz="2800" dirty="0"/>
              <a:t>Gesture recognition in sign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35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557349"/>
            <a:ext cx="9905999" cy="5712822"/>
          </a:xfrm>
        </p:spPr>
        <p:txBody>
          <a:bodyPr>
            <a:noAutofit/>
          </a:bodyPr>
          <a:lstStyle/>
          <a:p>
            <a:r>
              <a:rPr lang="en-US" sz="2600" dirty="0" smtClean="0"/>
              <a:t>Less Data Required </a:t>
            </a:r>
          </a:p>
          <a:p>
            <a:r>
              <a:rPr lang="en-US" sz="2600" dirty="0" smtClean="0"/>
              <a:t>Faster To Train</a:t>
            </a:r>
          </a:p>
          <a:p>
            <a:r>
              <a:rPr lang="en-US" sz="2600" dirty="0" smtClean="0"/>
              <a:t>Faster Detections</a:t>
            </a:r>
          </a:p>
          <a:p>
            <a:r>
              <a:rPr lang="en-US" sz="2600" dirty="0"/>
              <a:t>Real-Time </a:t>
            </a:r>
            <a:r>
              <a:rPr lang="en-US" sz="2600" dirty="0" smtClean="0"/>
              <a:t>Processing</a:t>
            </a:r>
          </a:p>
          <a:p>
            <a:r>
              <a:rPr lang="en-US" sz="2600" dirty="0"/>
              <a:t>Robustness to Noise and </a:t>
            </a:r>
            <a:r>
              <a:rPr lang="en-US" sz="2600" dirty="0" smtClean="0"/>
              <a:t>Variability</a:t>
            </a:r>
          </a:p>
          <a:p>
            <a:r>
              <a:rPr lang="en-US" sz="2600" dirty="0"/>
              <a:t>Adaptability and </a:t>
            </a:r>
            <a:r>
              <a:rPr lang="en-US" sz="2600" dirty="0" smtClean="0"/>
              <a:t>Flexibility</a:t>
            </a:r>
          </a:p>
          <a:p>
            <a:r>
              <a:rPr lang="en-US" sz="2600" dirty="0"/>
              <a:t>Overall, using LSTM networks for sign language recognition offers the potential to develop robust, accurate, and real-time systems for facilitating communication and interaction between hearing-impaired individuals and the rest of society.</a:t>
            </a:r>
          </a:p>
        </p:txBody>
      </p:sp>
    </p:spTree>
    <p:extLst>
      <p:ext uri="{BB962C8B-B14F-4D97-AF65-F5344CB8AC3E}">
        <p14:creationId xmlns:p14="http://schemas.microsoft.com/office/powerpoint/2010/main" val="48427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878" y="731520"/>
            <a:ext cx="9991179" cy="28215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77" y="3796335"/>
            <a:ext cx="9991180" cy="24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8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31520"/>
            <a:ext cx="9905999" cy="5320937"/>
          </a:xfrm>
        </p:spPr>
        <p:txBody>
          <a:bodyPr/>
          <a:lstStyle/>
          <a:p>
            <a:r>
              <a:rPr lang="en-US" dirty="0"/>
              <a:t>A Dense layer, also known as a fully connected layer, </a:t>
            </a:r>
            <a:r>
              <a:rPr lang="en-US" dirty="0" smtClean="0"/>
              <a:t>It </a:t>
            </a:r>
            <a:r>
              <a:rPr lang="en-US" dirty="0"/>
              <a:t>is called "dense" because every neuron in a Dense layer is connected to every neuron in the preceding layer</a:t>
            </a:r>
            <a:r>
              <a:rPr lang="en-US" dirty="0" smtClean="0"/>
              <a:t>.</a:t>
            </a:r>
          </a:p>
          <a:p>
            <a:r>
              <a:rPr lang="en-US" dirty="0"/>
              <a:t>Feature Extraction and </a:t>
            </a:r>
            <a:r>
              <a:rPr lang="en-US" dirty="0" smtClean="0"/>
              <a:t>Aggregation:</a:t>
            </a:r>
          </a:p>
          <a:p>
            <a:pPr lvl="1"/>
            <a:r>
              <a:rPr lang="en-US" sz="2400" dirty="0"/>
              <a:t>The LSTM layers extract temporal features from the sequential input data, capturing patterns and dependencies between signs in sign language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/>
              <a:t>However, the output of the LSTM layers may be high-dimensional and complex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/>
              <a:t>The Dense layer(s) following the LSTM layers help to further process and aggregate these features, summarizing the information learned by the LSTM layers into a more compact representation.</a:t>
            </a:r>
            <a:endParaRPr lang="en-US" sz="2400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1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836023"/>
            <a:ext cx="9905999" cy="4955178"/>
          </a:xfrm>
        </p:spPr>
        <p:txBody>
          <a:bodyPr/>
          <a:lstStyle/>
          <a:p>
            <a:r>
              <a:rPr lang="en-US" sz="2000" b="1" dirty="0" smtClean="0"/>
              <a:t>Regularization</a:t>
            </a:r>
            <a:r>
              <a:rPr lang="en-US" sz="2000" dirty="0" smtClean="0"/>
              <a:t>:</a:t>
            </a:r>
          </a:p>
          <a:p>
            <a:pPr lvl="1"/>
            <a:r>
              <a:rPr lang="en-US" dirty="0" smtClean="0"/>
              <a:t>Dense </a:t>
            </a:r>
            <a:r>
              <a:rPr lang="en-US" dirty="0"/>
              <a:t>layers can act as a form of regularization by preventing overfitting and improving the </a:t>
            </a:r>
            <a:r>
              <a:rPr lang="en-US" dirty="0" smtClean="0"/>
              <a:t>generalization </a:t>
            </a:r>
            <a:r>
              <a:rPr lang="en-US" dirty="0"/>
              <a:t>ability of the model</a:t>
            </a:r>
            <a:r>
              <a:rPr lang="en-US" dirty="0" smtClean="0"/>
              <a:t>.										</a:t>
            </a:r>
          </a:p>
          <a:p>
            <a:r>
              <a:rPr lang="en-US" sz="2000" dirty="0"/>
              <a:t>Final Classification:</a:t>
            </a:r>
          </a:p>
          <a:p>
            <a:pPr lvl="1"/>
            <a:r>
              <a:rPr lang="en-US" dirty="0"/>
              <a:t>The Dense layer(s) culminate in the output layer, which performs the final classification of sign language gestures.</a:t>
            </a:r>
          </a:p>
          <a:p>
            <a:pPr marL="457200" lvl="1" indent="0">
              <a:buNone/>
            </a:pPr>
            <a:r>
              <a:rPr lang="en-US" dirty="0" smtClean="0"/>
              <a:t>																															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78" y="4153989"/>
            <a:ext cx="7611291" cy="241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3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1831</TotalTime>
  <Words>648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Meiryo</vt:lpstr>
      <vt:lpstr>Trebuchet MS</vt:lpstr>
      <vt:lpstr>Tw Cen MT</vt:lpstr>
      <vt:lpstr>Wingdings</vt:lpstr>
      <vt:lpstr>Circuit</vt:lpstr>
      <vt:lpstr>Unheard Voices</vt:lpstr>
      <vt:lpstr>Overview of project </vt:lpstr>
      <vt:lpstr>PowerPoint Presentation</vt:lpstr>
      <vt:lpstr>What problem does the graduation project solve? </vt:lpstr>
      <vt:lpstr>What are the tools used to implement the project?</vt:lpstr>
      <vt:lpstr>PowerPoint Presentation</vt:lpstr>
      <vt:lpstr>PowerPoint Presentation</vt:lpstr>
      <vt:lpstr>PowerPoint Presentation</vt:lpstr>
      <vt:lpstr>PowerPoint Presentation</vt:lpstr>
      <vt:lpstr>ASL Model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Unheard Voices App</dc:title>
  <dc:creator>osama gamal</dc:creator>
  <cp:lastModifiedBy>Microsoft account</cp:lastModifiedBy>
  <cp:revision>40</cp:revision>
  <dcterms:created xsi:type="dcterms:W3CDTF">2023-10-13T08:10:31Z</dcterms:created>
  <dcterms:modified xsi:type="dcterms:W3CDTF">2024-02-27T20:27:36Z</dcterms:modified>
</cp:coreProperties>
</file>